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sldSz cx="18288000" cy="10287000"/>
  <p:notesSz cx="6858000" cy="9144000"/>
  <p:embeddedFontLst>
    <p:embeddedFont>
      <p:font typeface="Archivo Black" panose="020B0604020202020204" charset="0"/>
      <p:regular r:id="rId12"/>
    </p:embeddedFont>
    <p:embeddedFont>
      <p:font typeface="Gagalin" panose="020B0604020202020204" charset="0"/>
      <p:regular r:id="rId13"/>
    </p:embeddedFont>
    <p:embeddedFont>
      <p:font typeface="Neue Montreal" panose="020B0604020202020204" charset="0"/>
      <p:regular r:id="rId14"/>
    </p:embeddedFont>
    <p:embeddedFont>
      <p:font typeface="Neue Montreal Bold" panose="020B0604020202020204" charset="0"/>
      <p:regular r:id="rId15"/>
    </p:embeddedFont>
    <p:embeddedFont>
      <p:font typeface="Neue Montreal Medium" panose="020B0604020202020204" charset="0"/>
      <p:regular r:id="rId1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69" d="100"/>
          <a:sy n="69" d="100"/>
        </p:scale>
        <p:origin x="102" y="12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5.fnt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5/27/2025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5/27/2025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5/27/2025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5/27/2025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8.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8.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10.sv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10.sv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12.sv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1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5.jpeg"/><Relationship Id="rId5" Type="http://schemas.openxmlformats.org/officeDocument/2006/relationships/image" Target="../media/image14.svg"/><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5.jpeg"/><Relationship Id="rId5" Type="http://schemas.openxmlformats.org/officeDocument/2006/relationships/image" Target="../media/image14.svg"/><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8" Type="http://schemas.openxmlformats.org/officeDocument/2006/relationships/image" Target="../media/image21.svg"/><Relationship Id="rId3" Type="http://schemas.openxmlformats.org/officeDocument/2006/relationships/image" Target="../media/image18.svg"/><Relationship Id="rId7" Type="http://schemas.openxmlformats.org/officeDocument/2006/relationships/image" Target="../media/image20.png"/><Relationship Id="rId12" Type="http://schemas.openxmlformats.org/officeDocument/2006/relationships/image" Target="../media/image25.svg"/><Relationship Id="rId2" Type="http://schemas.openxmlformats.org/officeDocument/2006/relationships/image" Target="../media/image17.png"/><Relationship Id="rId1" Type="http://schemas.openxmlformats.org/officeDocument/2006/relationships/slideLayout" Target="../slideLayouts/slideLayout7.xml"/><Relationship Id="rId6" Type="http://schemas.openxmlformats.org/officeDocument/2006/relationships/image" Target="../media/image2.svg"/><Relationship Id="rId11" Type="http://schemas.openxmlformats.org/officeDocument/2006/relationships/image" Target="../media/image24.png"/><Relationship Id="rId5" Type="http://schemas.openxmlformats.org/officeDocument/2006/relationships/image" Target="../media/image1.png"/><Relationship Id="rId10" Type="http://schemas.openxmlformats.org/officeDocument/2006/relationships/image" Target="../media/image23.svg"/><Relationship Id="rId4" Type="http://schemas.openxmlformats.org/officeDocument/2006/relationships/image" Target="../media/image19.jpeg"/><Relationship Id="rId9" Type="http://schemas.openxmlformats.org/officeDocument/2006/relationships/image" Target="../media/image22.png"/></Relationships>
</file>

<file path=ppt/slides/_rels/slide10.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png"/><Relationship Id="rId1" Type="http://schemas.openxmlformats.org/officeDocument/2006/relationships/slideLayout" Target="../slideLayouts/slideLayout7.xml"/><Relationship Id="rId5" Type="http://schemas.openxmlformats.org/officeDocument/2006/relationships/image" Target="../media/image2.svg"/><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21723"/>
        </a:solidFill>
        <a:effectLst/>
      </p:bgPr>
    </p:bg>
    <p:spTree>
      <p:nvGrpSpPr>
        <p:cNvPr id="1" name=""/>
        <p:cNvGrpSpPr/>
        <p:nvPr/>
      </p:nvGrpSpPr>
      <p:grpSpPr>
        <a:xfrm>
          <a:off x="0" y="0"/>
          <a:ext cx="0" cy="0"/>
          <a:chOff x="0" y="0"/>
          <a:chExt cx="0" cy="0"/>
        </a:xfrm>
      </p:grpSpPr>
      <p:sp>
        <p:nvSpPr>
          <p:cNvPr id="2" name="Freeform 2"/>
          <p:cNvSpPr/>
          <p:nvPr/>
        </p:nvSpPr>
        <p:spPr>
          <a:xfrm>
            <a:off x="1063990" y="1028700"/>
            <a:ext cx="1276643" cy="968653"/>
          </a:xfrm>
          <a:custGeom>
            <a:avLst/>
            <a:gdLst/>
            <a:ahLst/>
            <a:cxnLst/>
            <a:rect l="l" t="t" r="r" b="b"/>
            <a:pathLst>
              <a:path w="1276643" h="968653">
                <a:moveTo>
                  <a:pt x="0" y="0"/>
                </a:moveTo>
                <a:lnTo>
                  <a:pt x="1276643" y="0"/>
                </a:lnTo>
                <a:lnTo>
                  <a:pt x="1276643" y="968653"/>
                </a:lnTo>
                <a:lnTo>
                  <a:pt x="0" y="96865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ro-MD"/>
          </a:p>
        </p:txBody>
      </p:sp>
      <p:sp>
        <p:nvSpPr>
          <p:cNvPr id="3" name="Freeform 3"/>
          <p:cNvSpPr/>
          <p:nvPr/>
        </p:nvSpPr>
        <p:spPr>
          <a:xfrm rot="-5400000">
            <a:off x="10775733" y="-327325"/>
            <a:ext cx="11765215" cy="10941650"/>
          </a:xfrm>
          <a:custGeom>
            <a:avLst/>
            <a:gdLst/>
            <a:ahLst/>
            <a:cxnLst/>
            <a:rect l="l" t="t" r="r" b="b"/>
            <a:pathLst>
              <a:path w="11765215" h="10941650">
                <a:moveTo>
                  <a:pt x="0" y="0"/>
                </a:moveTo>
                <a:lnTo>
                  <a:pt x="11765215" y="0"/>
                </a:lnTo>
                <a:lnTo>
                  <a:pt x="11765215" y="10941650"/>
                </a:lnTo>
                <a:lnTo>
                  <a:pt x="0" y="1094165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ro-MD"/>
          </a:p>
        </p:txBody>
      </p:sp>
      <p:sp>
        <p:nvSpPr>
          <p:cNvPr id="4" name="TextBox 4"/>
          <p:cNvSpPr txBox="1"/>
          <p:nvPr/>
        </p:nvSpPr>
        <p:spPr>
          <a:xfrm>
            <a:off x="1028700" y="8811275"/>
            <a:ext cx="2856799" cy="895127"/>
          </a:xfrm>
          <a:prstGeom prst="rect">
            <a:avLst/>
          </a:prstGeom>
        </p:spPr>
        <p:txBody>
          <a:bodyPr lIns="0" tIns="0" rIns="0" bIns="0" rtlCol="0" anchor="t">
            <a:spAutoFit/>
          </a:bodyPr>
          <a:lstStyle/>
          <a:p>
            <a:pPr algn="l">
              <a:lnSpc>
                <a:spcPts val="3498"/>
              </a:lnSpc>
            </a:pPr>
            <a:r>
              <a:rPr lang="en-US" sz="3123" b="1">
                <a:solidFill>
                  <a:srgbClr val="E7FF2F"/>
                </a:solidFill>
                <a:latin typeface="Neue Montreal Medium"/>
                <a:ea typeface="Neue Montreal Medium"/>
                <a:cs typeface="Neue Montreal Medium"/>
                <a:sym typeface="Neue Montreal Medium"/>
              </a:rPr>
              <a:t>Tilipeț Dumitru P-2412</a:t>
            </a:r>
          </a:p>
        </p:txBody>
      </p:sp>
      <p:sp>
        <p:nvSpPr>
          <p:cNvPr id="5" name="TextBox 5"/>
          <p:cNvSpPr txBox="1"/>
          <p:nvPr/>
        </p:nvSpPr>
        <p:spPr>
          <a:xfrm>
            <a:off x="5445927" y="8811275"/>
            <a:ext cx="2557480" cy="449142"/>
          </a:xfrm>
          <a:prstGeom prst="rect">
            <a:avLst/>
          </a:prstGeom>
        </p:spPr>
        <p:txBody>
          <a:bodyPr lIns="0" tIns="0" rIns="0" bIns="0" rtlCol="0" anchor="t">
            <a:spAutoFit/>
          </a:bodyPr>
          <a:lstStyle/>
          <a:p>
            <a:pPr algn="l">
              <a:lnSpc>
                <a:spcPts val="3498"/>
              </a:lnSpc>
            </a:pPr>
            <a:r>
              <a:rPr lang="en-US" sz="3123" b="1">
                <a:solidFill>
                  <a:srgbClr val="E7FF2F"/>
                </a:solidFill>
                <a:latin typeface="Neue Montreal Medium"/>
                <a:ea typeface="Neue Montreal Medium"/>
                <a:cs typeface="Neue Montreal Medium"/>
                <a:sym typeface="Neue Montreal Medium"/>
              </a:rPr>
              <a:t>Gîrlea Elena</a:t>
            </a:r>
          </a:p>
        </p:txBody>
      </p:sp>
      <p:sp>
        <p:nvSpPr>
          <p:cNvPr id="6" name="TextBox 6"/>
          <p:cNvSpPr txBox="1"/>
          <p:nvPr/>
        </p:nvSpPr>
        <p:spPr>
          <a:xfrm>
            <a:off x="1028700" y="8315835"/>
            <a:ext cx="2856799" cy="333489"/>
          </a:xfrm>
          <a:prstGeom prst="rect">
            <a:avLst/>
          </a:prstGeom>
        </p:spPr>
        <p:txBody>
          <a:bodyPr lIns="0" tIns="0" rIns="0" bIns="0" rtlCol="0" anchor="t">
            <a:spAutoFit/>
          </a:bodyPr>
          <a:lstStyle/>
          <a:p>
            <a:pPr algn="l">
              <a:lnSpc>
                <a:spcPts val="2598"/>
              </a:lnSpc>
            </a:pPr>
            <a:r>
              <a:rPr lang="en-US" sz="2320">
                <a:solidFill>
                  <a:srgbClr val="FFFFFF"/>
                </a:solidFill>
                <a:latin typeface="Neue Montreal"/>
                <a:ea typeface="Neue Montreal"/>
                <a:cs typeface="Neue Montreal"/>
                <a:sym typeface="Neue Montreal"/>
              </a:rPr>
              <a:t>Creat de:</a:t>
            </a:r>
          </a:p>
        </p:txBody>
      </p:sp>
      <p:sp>
        <p:nvSpPr>
          <p:cNvPr id="7" name="TextBox 7"/>
          <p:cNvSpPr txBox="1"/>
          <p:nvPr/>
        </p:nvSpPr>
        <p:spPr>
          <a:xfrm>
            <a:off x="5445927" y="8315835"/>
            <a:ext cx="1779601" cy="333489"/>
          </a:xfrm>
          <a:prstGeom prst="rect">
            <a:avLst/>
          </a:prstGeom>
        </p:spPr>
        <p:txBody>
          <a:bodyPr lIns="0" tIns="0" rIns="0" bIns="0" rtlCol="0" anchor="t">
            <a:spAutoFit/>
          </a:bodyPr>
          <a:lstStyle/>
          <a:p>
            <a:pPr algn="l">
              <a:lnSpc>
                <a:spcPts val="2598"/>
              </a:lnSpc>
            </a:pPr>
            <a:r>
              <a:rPr lang="en-US" sz="2320">
                <a:solidFill>
                  <a:srgbClr val="FFFFFF"/>
                </a:solidFill>
                <a:latin typeface="Neue Montreal"/>
                <a:ea typeface="Neue Montreal"/>
                <a:cs typeface="Neue Montreal"/>
                <a:sym typeface="Neue Montreal"/>
              </a:rPr>
              <a:t>Conducator:</a:t>
            </a:r>
          </a:p>
        </p:txBody>
      </p:sp>
      <p:sp>
        <p:nvSpPr>
          <p:cNvPr id="8" name="TextBox 8"/>
          <p:cNvSpPr txBox="1"/>
          <p:nvPr/>
        </p:nvSpPr>
        <p:spPr>
          <a:xfrm>
            <a:off x="1028700" y="3805666"/>
            <a:ext cx="9626802" cy="3130621"/>
          </a:xfrm>
          <a:prstGeom prst="rect">
            <a:avLst/>
          </a:prstGeom>
        </p:spPr>
        <p:txBody>
          <a:bodyPr lIns="0" tIns="0" rIns="0" bIns="0" rtlCol="0" anchor="t">
            <a:spAutoFit/>
          </a:bodyPr>
          <a:lstStyle/>
          <a:p>
            <a:pPr algn="l">
              <a:lnSpc>
                <a:spcPts val="12382"/>
              </a:lnSpc>
            </a:pPr>
            <a:r>
              <a:rPr lang="en-US" sz="9986">
                <a:solidFill>
                  <a:srgbClr val="E7FF2F"/>
                </a:solidFill>
                <a:latin typeface="Gagalin"/>
                <a:ea typeface="Gagalin"/>
                <a:cs typeface="Gagalin"/>
                <a:sym typeface="Gagalin"/>
              </a:rPr>
              <a:t>PRACTICA</a:t>
            </a:r>
          </a:p>
          <a:p>
            <a:pPr algn="l">
              <a:lnSpc>
                <a:spcPts val="12382"/>
              </a:lnSpc>
            </a:pPr>
            <a:r>
              <a:rPr lang="en-US" sz="9986">
                <a:solidFill>
                  <a:srgbClr val="FFFFFF"/>
                </a:solidFill>
                <a:latin typeface="Gagalin"/>
                <a:ea typeface="Gagalin"/>
                <a:cs typeface="Gagalin"/>
                <a:sym typeface="Gagalin"/>
              </a:rPr>
              <a:t>ANUL I - JUCĂRII</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21723"/>
        </a:solidFill>
        <a:effectLst/>
      </p:bgPr>
    </p:bg>
    <p:spTree>
      <p:nvGrpSpPr>
        <p:cNvPr id="1" name=""/>
        <p:cNvGrpSpPr/>
        <p:nvPr/>
      </p:nvGrpSpPr>
      <p:grpSpPr>
        <a:xfrm>
          <a:off x="0" y="0"/>
          <a:ext cx="0" cy="0"/>
          <a:chOff x="0" y="0"/>
          <a:chExt cx="0" cy="0"/>
        </a:xfrm>
      </p:grpSpPr>
      <p:sp>
        <p:nvSpPr>
          <p:cNvPr id="2" name="Freeform 2"/>
          <p:cNvSpPr/>
          <p:nvPr/>
        </p:nvSpPr>
        <p:spPr>
          <a:xfrm>
            <a:off x="1063990" y="1028700"/>
            <a:ext cx="1276643" cy="968653"/>
          </a:xfrm>
          <a:custGeom>
            <a:avLst/>
            <a:gdLst/>
            <a:ahLst/>
            <a:cxnLst/>
            <a:rect l="l" t="t" r="r" b="b"/>
            <a:pathLst>
              <a:path w="1276643" h="968653">
                <a:moveTo>
                  <a:pt x="0" y="0"/>
                </a:moveTo>
                <a:lnTo>
                  <a:pt x="1276643" y="0"/>
                </a:lnTo>
                <a:lnTo>
                  <a:pt x="1276643" y="968653"/>
                </a:lnTo>
                <a:lnTo>
                  <a:pt x="0" y="96865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ro-MD"/>
          </a:p>
        </p:txBody>
      </p:sp>
      <p:sp>
        <p:nvSpPr>
          <p:cNvPr id="3" name="Freeform 3"/>
          <p:cNvSpPr/>
          <p:nvPr/>
        </p:nvSpPr>
        <p:spPr>
          <a:xfrm>
            <a:off x="14434606" y="-2176128"/>
            <a:ext cx="4971028" cy="5072477"/>
          </a:xfrm>
          <a:custGeom>
            <a:avLst/>
            <a:gdLst/>
            <a:ahLst/>
            <a:cxnLst/>
            <a:rect l="l" t="t" r="r" b="b"/>
            <a:pathLst>
              <a:path w="4971028" h="5072477">
                <a:moveTo>
                  <a:pt x="0" y="0"/>
                </a:moveTo>
                <a:lnTo>
                  <a:pt x="4971027" y="0"/>
                </a:lnTo>
                <a:lnTo>
                  <a:pt x="4971027" y="5072477"/>
                </a:lnTo>
                <a:lnTo>
                  <a:pt x="0" y="507247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ro-MD"/>
          </a:p>
        </p:txBody>
      </p:sp>
      <p:sp>
        <p:nvSpPr>
          <p:cNvPr id="4" name="Freeform 4"/>
          <p:cNvSpPr/>
          <p:nvPr/>
        </p:nvSpPr>
        <p:spPr>
          <a:xfrm>
            <a:off x="14773786" y="8197282"/>
            <a:ext cx="4971028" cy="1352363"/>
          </a:xfrm>
          <a:custGeom>
            <a:avLst/>
            <a:gdLst/>
            <a:ahLst/>
            <a:cxnLst/>
            <a:rect l="l" t="t" r="r" b="b"/>
            <a:pathLst>
              <a:path w="4971028" h="1352363">
                <a:moveTo>
                  <a:pt x="0" y="0"/>
                </a:moveTo>
                <a:lnTo>
                  <a:pt x="4971028" y="0"/>
                </a:lnTo>
                <a:lnTo>
                  <a:pt x="4971028" y="1352362"/>
                </a:lnTo>
                <a:lnTo>
                  <a:pt x="0" y="1352362"/>
                </a:lnTo>
                <a:lnTo>
                  <a:pt x="0" y="0"/>
                </a:lnTo>
                <a:close/>
              </a:path>
            </a:pathLst>
          </a:custGeom>
          <a:blipFill>
            <a:blip r:embed="rId4">
              <a:extLst>
                <a:ext uri="{96DAC541-7B7A-43D3-8B79-37D633B846F1}">
                  <asvg:svgBlip xmlns:asvg="http://schemas.microsoft.com/office/drawing/2016/SVG/main" r:embed="rId5"/>
                </a:ext>
              </a:extLst>
            </a:blip>
            <a:stretch>
              <a:fillRect t="-275082"/>
            </a:stretch>
          </a:blipFill>
        </p:spPr>
        <p:txBody>
          <a:bodyPr/>
          <a:lstStyle/>
          <a:p>
            <a:endParaRPr lang="ro-MD"/>
          </a:p>
        </p:txBody>
      </p:sp>
      <p:grpSp>
        <p:nvGrpSpPr>
          <p:cNvPr id="5" name="Group 5"/>
          <p:cNvGrpSpPr/>
          <p:nvPr/>
        </p:nvGrpSpPr>
        <p:grpSpPr>
          <a:xfrm>
            <a:off x="10237132" y="1235669"/>
            <a:ext cx="7904789" cy="8499645"/>
            <a:chOff x="0" y="0"/>
            <a:chExt cx="2137586" cy="2298445"/>
          </a:xfrm>
        </p:grpSpPr>
        <p:sp>
          <p:nvSpPr>
            <p:cNvPr id="6" name="Freeform 6"/>
            <p:cNvSpPr/>
            <p:nvPr/>
          </p:nvSpPr>
          <p:spPr>
            <a:xfrm>
              <a:off x="0" y="0"/>
              <a:ext cx="2137586" cy="2298445"/>
            </a:xfrm>
            <a:custGeom>
              <a:avLst/>
              <a:gdLst/>
              <a:ahLst/>
              <a:cxnLst/>
              <a:rect l="l" t="t" r="r" b="b"/>
              <a:pathLst>
                <a:path w="2137586" h="2298445">
                  <a:moveTo>
                    <a:pt x="49949" y="0"/>
                  </a:moveTo>
                  <a:lnTo>
                    <a:pt x="2087636" y="0"/>
                  </a:lnTo>
                  <a:cubicBezTo>
                    <a:pt x="2115223" y="0"/>
                    <a:pt x="2137586" y="22363"/>
                    <a:pt x="2137586" y="49949"/>
                  </a:cubicBezTo>
                  <a:lnTo>
                    <a:pt x="2137586" y="2248495"/>
                  </a:lnTo>
                  <a:cubicBezTo>
                    <a:pt x="2137586" y="2276082"/>
                    <a:pt x="2115223" y="2298445"/>
                    <a:pt x="2087636" y="2298445"/>
                  </a:cubicBezTo>
                  <a:lnTo>
                    <a:pt x="49949" y="2298445"/>
                  </a:lnTo>
                  <a:cubicBezTo>
                    <a:pt x="22363" y="2298445"/>
                    <a:pt x="0" y="2276082"/>
                    <a:pt x="0" y="2248495"/>
                  </a:cubicBezTo>
                  <a:lnTo>
                    <a:pt x="0" y="49949"/>
                  </a:lnTo>
                  <a:cubicBezTo>
                    <a:pt x="0" y="22363"/>
                    <a:pt x="22363" y="0"/>
                    <a:pt x="49949" y="0"/>
                  </a:cubicBezTo>
                  <a:close/>
                </a:path>
              </a:pathLst>
            </a:custGeom>
            <a:solidFill>
              <a:srgbClr val="FFFFFF"/>
            </a:solidFill>
          </p:spPr>
          <p:txBody>
            <a:bodyPr/>
            <a:lstStyle/>
            <a:p>
              <a:endParaRPr lang="ro-MD"/>
            </a:p>
          </p:txBody>
        </p:sp>
        <p:sp>
          <p:nvSpPr>
            <p:cNvPr id="7" name="TextBox 7"/>
            <p:cNvSpPr txBox="1"/>
            <p:nvPr/>
          </p:nvSpPr>
          <p:spPr>
            <a:xfrm>
              <a:off x="0" y="19050"/>
              <a:ext cx="2137586" cy="2279395"/>
            </a:xfrm>
            <a:prstGeom prst="rect">
              <a:avLst/>
            </a:prstGeom>
          </p:spPr>
          <p:txBody>
            <a:bodyPr lIns="50800" tIns="50800" rIns="50800" bIns="50800" rtlCol="0" anchor="ctr"/>
            <a:lstStyle/>
            <a:p>
              <a:pPr algn="ctr">
                <a:lnSpc>
                  <a:spcPts val="2598"/>
                </a:lnSpc>
              </a:pPr>
              <a:endParaRPr/>
            </a:p>
          </p:txBody>
        </p:sp>
      </p:grpSp>
      <p:sp>
        <p:nvSpPr>
          <p:cNvPr id="8" name="Freeform 8"/>
          <p:cNvSpPr/>
          <p:nvPr/>
        </p:nvSpPr>
        <p:spPr>
          <a:xfrm>
            <a:off x="8808225" y="4044878"/>
            <a:ext cx="5965561" cy="2171366"/>
          </a:xfrm>
          <a:custGeom>
            <a:avLst/>
            <a:gdLst/>
            <a:ahLst/>
            <a:cxnLst/>
            <a:rect l="l" t="t" r="r" b="b"/>
            <a:pathLst>
              <a:path w="5965561" h="2171366">
                <a:moveTo>
                  <a:pt x="0" y="0"/>
                </a:moveTo>
                <a:lnTo>
                  <a:pt x="5965561" y="0"/>
                </a:lnTo>
                <a:lnTo>
                  <a:pt x="5965561" y="2171366"/>
                </a:lnTo>
                <a:lnTo>
                  <a:pt x="0" y="2171366"/>
                </a:lnTo>
                <a:lnTo>
                  <a:pt x="0" y="0"/>
                </a:lnTo>
                <a:close/>
              </a:path>
            </a:pathLst>
          </a:custGeom>
          <a:blipFill>
            <a:blip r:embed="rId6">
              <a:extLst>
                <a:ext uri="{96DAC541-7B7A-43D3-8B79-37D633B846F1}">
                  <asvg:svgBlip xmlns:asvg="http://schemas.microsoft.com/office/drawing/2016/SVG/main" r:embed="rId7"/>
                </a:ext>
              </a:extLst>
            </a:blip>
            <a:stretch>
              <a:fillRect b="-220861"/>
            </a:stretch>
          </a:blipFill>
        </p:spPr>
        <p:txBody>
          <a:bodyPr/>
          <a:lstStyle/>
          <a:p>
            <a:endParaRPr lang="ro-MD"/>
          </a:p>
        </p:txBody>
      </p:sp>
      <p:sp>
        <p:nvSpPr>
          <p:cNvPr id="9" name="TextBox 9"/>
          <p:cNvSpPr txBox="1"/>
          <p:nvPr/>
        </p:nvSpPr>
        <p:spPr>
          <a:xfrm>
            <a:off x="1028700" y="2744811"/>
            <a:ext cx="7083138" cy="1372870"/>
          </a:xfrm>
          <a:prstGeom prst="rect">
            <a:avLst/>
          </a:prstGeom>
        </p:spPr>
        <p:txBody>
          <a:bodyPr lIns="0" tIns="0" rIns="0" bIns="0" rtlCol="0" anchor="t">
            <a:spAutoFit/>
          </a:bodyPr>
          <a:lstStyle/>
          <a:p>
            <a:pPr algn="l">
              <a:lnSpc>
                <a:spcPts val="10640"/>
              </a:lnSpc>
            </a:pPr>
            <a:r>
              <a:rPr lang="en-US" sz="9500">
                <a:solidFill>
                  <a:srgbClr val="E7FF2F"/>
                </a:solidFill>
                <a:latin typeface="Gagalin"/>
                <a:ea typeface="Gagalin"/>
                <a:cs typeface="Gagalin"/>
                <a:sym typeface="Gagalin"/>
              </a:rPr>
              <a:t>Sarcini:</a:t>
            </a:r>
          </a:p>
        </p:txBody>
      </p:sp>
      <p:sp>
        <p:nvSpPr>
          <p:cNvPr id="10" name="TextBox 10"/>
          <p:cNvSpPr txBox="1"/>
          <p:nvPr/>
        </p:nvSpPr>
        <p:spPr>
          <a:xfrm>
            <a:off x="1028700" y="4681418"/>
            <a:ext cx="1893496" cy="449142"/>
          </a:xfrm>
          <a:prstGeom prst="rect">
            <a:avLst/>
          </a:prstGeom>
        </p:spPr>
        <p:txBody>
          <a:bodyPr lIns="0" tIns="0" rIns="0" bIns="0" rtlCol="0" anchor="t">
            <a:spAutoFit/>
          </a:bodyPr>
          <a:lstStyle/>
          <a:p>
            <a:pPr algn="l">
              <a:lnSpc>
                <a:spcPts val="3498"/>
              </a:lnSpc>
            </a:pPr>
            <a:r>
              <a:rPr lang="en-US" sz="3123" b="1">
                <a:solidFill>
                  <a:srgbClr val="E7FF2F"/>
                </a:solidFill>
                <a:latin typeface="Neue Montreal Medium"/>
                <a:ea typeface="Neue Montreal Medium"/>
                <a:cs typeface="Neue Montreal Medium"/>
                <a:sym typeface="Neue Montreal Medium"/>
              </a:rPr>
              <a:t>INFO:</a:t>
            </a:r>
          </a:p>
        </p:txBody>
      </p:sp>
      <p:sp>
        <p:nvSpPr>
          <p:cNvPr id="11" name="TextBox 11"/>
          <p:cNvSpPr txBox="1"/>
          <p:nvPr/>
        </p:nvSpPr>
        <p:spPr>
          <a:xfrm>
            <a:off x="9048650" y="4937878"/>
            <a:ext cx="645849" cy="404414"/>
          </a:xfrm>
          <a:prstGeom prst="rect">
            <a:avLst/>
          </a:prstGeom>
        </p:spPr>
        <p:txBody>
          <a:bodyPr lIns="0" tIns="0" rIns="0" bIns="0" rtlCol="0" anchor="t">
            <a:spAutoFit/>
          </a:bodyPr>
          <a:lstStyle/>
          <a:p>
            <a:pPr algn="ctr">
              <a:lnSpc>
                <a:spcPts val="3152"/>
              </a:lnSpc>
            </a:pPr>
            <a:r>
              <a:rPr lang="en-US" sz="2814" b="1">
                <a:solidFill>
                  <a:srgbClr val="000000"/>
                </a:solidFill>
                <a:latin typeface="Neue Montreal Bold"/>
                <a:ea typeface="Neue Montreal Bold"/>
                <a:cs typeface="Neue Montreal Bold"/>
                <a:sym typeface="Neue Montreal Bold"/>
              </a:rPr>
              <a:t>01</a:t>
            </a:r>
          </a:p>
        </p:txBody>
      </p:sp>
      <p:sp>
        <p:nvSpPr>
          <p:cNvPr id="12" name="TextBox 12"/>
          <p:cNvSpPr txBox="1"/>
          <p:nvPr/>
        </p:nvSpPr>
        <p:spPr>
          <a:xfrm>
            <a:off x="9478613" y="6990382"/>
            <a:ext cx="645849" cy="404414"/>
          </a:xfrm>
          <a:prstGeom prst="rect">
            <a:avLst/>
          </a:prstGeom>
        </p:spPr>
        <p:txBody>
          <a:bodyPr lIns="0" tIns="0" rIns="0" bIns="0" rtlCol="0" anchor="t">
            <a:spAutoFit/>
          </a:bodyPr>
          <a:lstStyle/>
          <a:p>
            <a:pPr algn="ctr">
              <a:lnSpc>
                <a:spcPts val="3152"/>
              </a:lnSpc>
            </a:pPr>
            <a:r>
              <a:rPr lang="en-US" sz="2814" b="1">
                <a:solidFill>
                  <a:srgbClr val="000000"/>
                </a:solidFill>
                <a:latin typeface="Neue Montreal Bold"/>
                <a:ea typeface="Neue Montreal Bold"/>
                <a:cs typeface="Neue Montreal Bold"/>
                <a:sym typeface="Neue Montreal Bold"/>
              </a:rPr>
              <a:t>02</a:t>
            </a:r>
          </a:p>
        </p:txBody>
      </p:sp>
      <p:sp>
        <p:nvSpPr>
          <p:cNvPr id="13" name="TextBox 13"/>
          <p:cNvSpPr txBox="1"/>
          <p:nvPr/>
        </p:nvSpPr>
        <p:spPr>
          <a:xfrm>
            <a:off x="1063990" y="5530949"/>
            <a:ext cx="7258461" cy="2218957"/>
          </a:xfrm>
          <a:prstGeom prst="rect">
            <a:avLst/>
          </a:prstGeom>
        </p:spPr>
        <p:txBody>
          <a:bodyPr lIns="0" tIns="0" rIns="0" bIns="0" rtlCol="0" anchor="t">
            <a:spAutoFit/>
          </a:bodyPr>
          <a:lstStyle/>
          <a:p>
            <a:pPr algn="l">
              <a:lnSpc>
                <a:spcPts val="4423"/>
              </a:lnSpc>
            </a:pPr>
            <a:r>
              <a:rPr lang="en-US" sz="3159" b="1">
                <a:solidFill>
                  <a:srgbClr val="FFFFFF"/>
                </a:solidFill>
                <a:latin typeface="Neue Montreal Bold"/>
                <a:ea typeface="Neue Montreal Bold"/>
                <a:cs typeface="Neue Montreal Bold"/>
                <a:sym typeface="Neue Montreal Bold"/>
              </a:rPr>
              <a:t>Să se elaborere un program (modular) care, folosind meniuri şi subprograme, să realizeze, ia solicitarea utilizatorului, următoarele prescripţii:</a:t>
            </a:r>
          </a:p>
        </p:txBody>
      </p:sp>
      <p:sp>
        <p:nvSpPr>
          <p:cNvPr id="14" name="TextBox 14"/>
          <p:cNvSpPr txBox="1"/>
          <p:nvPr/>
        </p:nvSpPr>
        <p:spPr>
          <a:xfrm>
            <a:off x="10909987" y="1532077"/>
            <a:ext cx="2900531" cy="450832"/>
          </a:xfrm>
          <a:prstGeom prst="rect">
            <a:avLst/>
          </a:prstGeom>
        </p:spPr>
        <p:txBody>
          <a:bodyPr lIns="0" tIns="0" rIns="0" bIns="0" rtlCol="0" anchor="t">
            <a:spAutoFit/>
          </a:bodyPr>
          <a:lstStyle/>
          <a:p>
            <a:pPr algn="l">
              <a:lnSpc>
                <a:spcPts val="3498"/>
              </a:lnSpc>
            </a:pPr>
            <a:r>
              <a:rPr lang="en-US" sz="3123">
                <a:solidFill>
                  <a:srgbClr val="000000"/>
                </a:solidFill>
                <a:latin typeface="Archivo Black"/>
                <a:ea typeface="Archivo Black"/>
                <a:cs typeface="Archivo Black"/>
                <a:sym typeface="Archivo Black"/>
              </a:rPr>
              <a:t>C++</a:t>
            </a:r>
          </a:p>
        </p:txBody>
      </p:sp>
      <p:sp>
        <p:nvSpPr>
          <p:cNvPr id="15" name="TextBox 15"/>
          <p:cNvSpPr txBox="1"/>
          <p:nvPr/>
        </p:nvSpPr>
        <p:spPr>
          <a:xfrm>
            <a:off x="10614903" y="2037834"/>
            <a:ext cx="7149247" cy="7024329"/>
          </a:xfrm>
          <a:prstGeom prst="rect">
            <a:avLst/>
          </a:prstGeom>
        </p:spPr>
        <p:txBody>
          <a:bodyPr lIns="0" tIns="0" rIns="0" bIns="0" rtlCol="0" anchor="t">
            <a:spAutoFit/>
          </a:bodyPr>
          <a:lstStyle/>
          <a:p>
            <a:pPr algn="l">
              <a:lnSpc>
                <a:spcPts val="2820"/>
              </a:lnSpc>
            </a:pPr>
            <a:r>
              <a:rPr lang="en-US" sz="1567">
                <a:solidFill>
                  <a:srgbClr val="545454"/>
                </a:solidFill>
                <a:latin typeface="Gagalin"/>
                <a:ea typeface="Gagalin"/>
                <a:cs typeface="Gagalin"/>
                <a:sym typeface="Gagalin"/>
              </a:rPr>
              <a:t>1. Afişarea pe ecran a informațiilor despre toate jucăriile</a:t>
            </a:r>
          </a:p>
          <a:p>
            <a:pPr algn="l">
              <a:lnSpc>
                <a:spcPts val="2820"/>
              </a:lnSpc>
            </a:pPr>
            <a:r>
              <a:rPr lang="en-US" sz="1567">
                <a:solidFill>
                  <a:srgbClr val="545454"/>
                </a:solidFill>
                <a:latin typeface="Gagalin"/>
                <a:ea typeface="Gagalin"/>
                <a:cs typeface="Gagalin"/>
                <a:sym typeface="Gagalin"/>
              </a:rPr>
              <a:t>2. Afişarea pe ecran a informațiilor despre toți producătorii.</a:t>
            </a:r>
          </a:p>
          <a:p>
            <a:pPr algn="l">
              <a:lnSpc>
                <a:spcPts val="2820"/>
              </a:lnSpc>
            </a:pPr>
            <a:r>
              <a:rPr lang="en-US" sz="1567">
                <a:solidFill>
                  <a:srgbClr val="545454"/>
                </a:solidFill>
                <a:latin typeface="Gagalin"/>
                <a:ea typeface="Gagalin"/>
                <a:cs typeface="Gagalin"/>
                <a:sym typeface="Gagalin"/>
              </a:rPr>
              <a:t>3. Adăugarea informațiilor despre o jucărie nouă.</a:t>
            </a:r>
          </a:p>
          <a:p>
            <a:pPr algn="l">
              <a:lnSpc>
                <a:spcPts val="2820"/>
              </a:lnSpc>
            </a:pPr>
            <a:r>
              <a:rPr lang="en-US" sz="1567">
                <a:solidFill>
                  <a:srgbClr val="545454"/>
                </a:solidFill>
                <a:latin typeface="Gagalin"/>
                <a:ea typeface="Gagalin"/>
                <a:cs typeface="Gagalin"/>
                <a:sym typeface="Gagalin"/>
              </a:rPr>
              <a:t>4 Adaugarea informațiilor despre un nou producător.</a:t>
            </a:r>
          </a:p>
          <a:p>
            <a:pPr algn="l">
              <a:lnSpc>
                <a:spcPts val="2820"/>
              </a:lnSpc>
            </a:pPr>
            <a:r>
              <a:rPr lang="en-US" sz="1567">
                <a:solidFill>
                  <a:srgbClr val="545454"/>
                </a:solidFill>
                <a:latin typeface="Gagalin"/>
                <a:ea typeface="Gagalin"/>
                <a:cs typeface="Gagalin"/>
                <a:sym typeface="Gagalin"/>
              </a:rPr>
              <a:t>5. Stergerea informațiilor despre o jucărie, al cărei nume a fost introdus de la tastatură</a:t>
            </a:r>
          </a:p>
          <a:p>
            <a:pPr algn="l">
              <a:lnSpc>
                <a:spcPts val="2820"/>
              </a:lnSpc>
            </a:pPr>
            <a:r>
              <a:rPr lang="en-US" sz="1567">
                <a:solidFill>
                  <a:srgbClr val="545454"/>
                </a:solidFill>
                <a:latin typeface="Gagalin"/>
                <a:ea typeface="Gagalin"/>
                <a:cs typeface="Gagalin"/>
                <a:sym typeface="Gagalin"/>
              </a:rPr>
              <a:t>6. Stergerea informatiilor despre un producător, al cărui nume a fost introdus de la tastatură.</a:t>
            </a:r>
          </a:p>
          <a:p>
            <a:pPr algn="l">
              <a:lnSpc>
                <a:spcPts val="2820"/>
              </a:lnSpc>
            </a:pPr>
            <a:r>
              <a:rPr lang="en-US" sz="1567">
                <a:solidFill>
                  <a:srgbClr val="545454"/>
                </a:solidFill>
                <a:latin typeface="Gagalin"/>
                <a:ea typeface="Gagalin"/>
                <a:cs typeface="Gagalin"/>
                <a:sym typeface="Gagalin"/>
              </a:rPr>
              <a:t>7. Editarea Informațiilor despre o jucărie, al cărei nume a fost introdus de la tastatură,</a:t>
            </a:r>
          </a:p>
          <a:p>
            <a:pPr algn="l">
              <a:lnSpc>
                <a:spcPts val="2820"/>
              </a:lnSpc>
            </a:pPr>
            <a:r>
              <a:rPr lang="en-US" sz="1567">
                <a:solidFill>
                  <a:srgbClr val="545454"/>
                </a:solidFill>
                <a:latin typeface="Gagalin"/>
                <a:ea typeface="Gagalin"/>
                <a:cs typeface="Gagalin"/>
                <a:sym typeface="Gagalin"/>
              </a:rPr>
              <a:t>8. Editarea informațiilor despre un producător, al cărui nume a fost introdus de la tastatură.</a:t>
            </a:r>
          </a:p>
          <a:p>
            <a:pPr algn="l">
              <a:lnSpc>
                <a:spcPts val="2820"/>
              </a:lnSpc>
            </a:pPr>
            <a:r>
              <a:rPr lang="en-US" sz="1567">
                <a:solidFill>
                  <a:srgbClr val="545454"/>
                </a:solidFill>
                <a:latin typeface="Gagalin"/>
                <a:ea typeface="Gagalin"/>
                <a:cs typeface="Gagalin"/>
                <a:sym typeface="Gagalin"/>
              </a:rPr>
              <a:t>9. Crearea unui fişier text Total.txt, care să conțină denumirile tuturor producătorilor şi numărul de tipuri de jucării fabricate de fiecare.</a:t>
            </a:r>
          </a:p>
          <a:p>
            <a:pPr algn="l">
              <a:lnSpc>
                <a:spcPts val="2820"/>
              </a:lnSpc>
            </a:pPr>
            <a:r>
              <a:rPr lang="en-US" sz="1567">
                <a:solidFill>
                  <a:srgbClr val="545454"/>
                </a:solidFill>
                <a:latin typeface="Gagalin"/>
                <a:ea typeface="Gagalin"/>
                <a:cs typeface="Gagalin"/>
                <a:sym typeface="Gagalin"/>
              </a:rPr>
              <a:t>10. Afişarea pe ecran în ordine alfabetică a tuturor denumirilor jucăriilor destinate celor mici.</a:t>
            </a:r>
          </a:p>
          <a:p>
            <a:pPr algn="l">
              <a:lnSpc>
                <a:spcPts val="2820"/>
              </a:lnSpc>
            </a:pPr>
            <a:r>
              <a:rPr lang="en-US" sz="1567">
                <a:solidFill>
                  <a:srgbClr val="545454"/>
                </a:solidFill>
                <a:latin typeface="Gagalin"/>
                <a:ea typeface="Gagalin"/>
                <a:cs typeface="Gagalin"/>
                <a:sym typeface="Gagalin"/>
              </a:rPr>
              <a:t>11. Afişarea pe ecran a informațiilor despre jucăria cea mai scumpă și cea mai ieftină.</a:t>
            </a:r>
          </a:p>
          <a:p>
            <a:pPr algn="l">
              <a:lnSpc>
                <a:spcPts val="2820"/>
              </a:lnSpc>
            </a:pPr>
            <a:r>
              <a:rPr lang="en-US" sz="1567">
                <a:solidFill>
                  <a:srgbClr val="545454"/>
                </a:solidFill>
                <a:latin typeface="Gagalin"/>
                <a:ea typeface="Gagalin"/>
                <a:cs typeface="Gagalin"/>
                <a:sym typeface="Gagalin"/>
              </a:rPr>
              <a:t>12. Afişarea pe ecran a prețului mediu al tuturor jucăriilor din categoria specificată.</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21723"/>
        </a:solidFill>
        <a:effectLst/>
      </p:bgPr>
    </p:bg>
    <p:spTree>
      <p:nvGrpSpPr>
        <p:cNvPr id="1" name=""/>
        <p:cNvGrpSpPr/>
        <p:nvPr/>
      </p:nvGrpSpPr>
      <p:grpSpPr>
        <a:xfrm>
          <a:off x="0" y="0"/>
          <a:ext cx="0" cy="0"/>
          <a:chOff x="0" y="0"/>
          <a:chExt cx="0" cy="0"/>
        </a:xfrm>
      </p:grpSpPr>
      <p:sp>
        <p:nvSpPr>
          <p:cNvPr id="2" name="Freeform 2"/>
          <p:cNvSpPr/>
          <p:nvPr/>
        </p:nvSpPr>
        <p:spPr>
          <a:xfrm>
            <a:off x="1063990" y="1028700"/>
            <a:ext cx="1276643" cy="968653"/>
          </a:xfrm>
          <a:custGeom>
            <a:avLst/>
            <a:gdLst/>
            <a:ahLst/>
            <a:cxnLst/>
            <a:rect l="l" t="t" r="r" b="b"/>
            <a:pathLst>
              <a:path w="1276643" h="968653">
                <a:moveTo>
                  <a:pt x="0" y="0"/>
                </a:moveTo>
                <a:lnTo>
                  <a:pt x="1276643" y="0"/>
                </a:lnTo>
                <a:lnTo>
                  <a:pt x="1276643" y="968653"/>
                </a:lnTo>
                <a:lnTo>
                  <a:pt x="0" y="96865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ro-MD"/>
          </a:p>
        </p:txBody>
      </p:sp>
      <p:sp>
        <p:nvSpPr>
          <p:cNvPr id="3" name="Freeform 3"/>
          <p:cNvSpPr/>
          <p:nvPr/>
        </p:nvSpPr>
        <p:spPr>
          <a:xfrm>
            <a:off x="14434606" y="-2176128"/>
            <a:ext cx="4971028" cy="5072477"/>
          </a:xfrm>
          <a:custGeom>
            <a:avLst/>
            <a:gdLst/>
            <a:ahLst/>
            <a:cxnLst/>
            <a:rect l="l" t="t" r="r" b="b"/>
            <a:pathLst>
              <a:path w="4971028" h="5072477">
                <a:moveTo>
                  <a:pt x="0" y="0"/>
                </a:moveTo>
                <a:lnTo>
                  <a:pt x="4971027" y="0"/>
                </a:lnTo>
                <a:lnTo>
                  <a:pt x="4971027" y="5072477"/>
                </a:lnTo>
                <a:lnTo>
                  <a:pt x="0" y="507247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ro-MD"/>
          </a:p>
        </p:txBody>
      </p:sp>
      <p:sp>
        <p:nvSpPr>
          <p:cNvPr id="4" name="Freeform 4"/>
          <p:cNvSpPr/>
          <p:nvPr/>
        </p:nvSpPr>
        <p:spPr>
          <a:xfrm>
            <a:off x="14773786" y="8197282"/>
            <a:ext cx="4971028" cy="1352363"/>
          </a:xfrm>
          <a:custGeom>
            <a:avLst/>
            <a:gdLst/>
            <a:ahLst/>
            <a:cxnLst/>
            <a:rect l="l" t="t" r="r" b="b"/>
            <a:pathLst>
              <a:path w="4971028" h="1352363">
                <a:moveTo>
                  <a:pt x="0" y="0"/>
                </a:moveTo>
                <a:lnTo>
                  <a:pt x="4971028" y="0"/>
                </a:lnTo>
                <a:lnTo>
                  <a:pt x="4971028" y="1352362"/>
                </a:lnTo>
                <a:lnTo>
                  <a:pt x="0" y="1352362"/>
                </a:lnTo>
                <a:lnTo>
                  <a:pt x="0" y="0"/>
                </a:lnTo>
                <a:close/>
              </a:path>
            </a:pathLst>
          </a:custGeom>
          <a:blipFill>
            <a:blip r:embed="rId4">
              <a:extLst>
                <a:ext uri="{96DAC541-7B7A-43D3-8B79-37D633B846F1}">
                  <asvg:svgBlip xmlns:asvg="http://schemas.microsoft.com/office/drawing/2016/SVG/main" r:embed="rId5"/>
                </a:ext>
              </a:extLst>
            </a:blip>
            <a:stretch>
              <a:fillRect t="-275082"/>
            </a:stretch>
          </a:blipFill>
        </p:spPr>
        <p:txBody>
          <a:bodyPr/>
          <a:lstStyle/>
          <a:p>
            <a:endParaRPr lang="ro-MD"/>
          </a:p>
        </p:txBody>
      </p:sp>
      <p:grpSp>
        <p:nvGrpSpPr>
          <p:cNvPr id="5" name="Group 5"/>
          <p:cNvGrpSpPr/>
          <p:nvPr/>
        </p:nvGrpSpPr>
        <p:grpSpPr>
          <a:xfrm>
            <a:off x="10237132" y="1235669"/>
            <a:ext cx="7904789" cy="8499645"/>
            <a:chOff x="0" y="0"/>
            <a:chExt cx="2137586" cy="2298445"/>
          </a:xfrm>
        </p:grpSpPr>
        <p:sp>
          <p:nvSpPr>
            <p:cNvPr id="6" name="Freeform 6"/>
            <p:cNvSpPr/>
            <p:nvPr/>
          </p:nvSpPr>
          <p:spPr>
            <a:xfrm>
              <a:off x="0" y="0"/>
              <a:ext cx="2137586" cy="2298445"/>
            </a:xfrm>
            <a:custGeom>
              <a:avLst/>
              <a:gdLst/>
              <a:ahLst/>
              <a:cxnLst/>
              <a:rect l="l" t="t" r="r" b="b"/>
              <a:pathLst>
                <a:path w="2137586" h="2298445">
                  <a:moveTo>
                    <a:pt x="49949" y="0"/>
                  </a:moveTo>
                  <a:lnTo>
                    <a:pt x="2087636" y="0"/>
                  </a:lnTo>
                  <a:cubicBezTo>
                    <a:pt x="2115223" y="0"/>
                    <a:pt x="2137586" y="22363"/>
                    <a:pt x="2137586" y="49949"/>
                  </a:cubicBezTo>
                  <a:lnTo>
                    <a:pt x="2137586" y="2248495"/>
                  </a:lnTo>
                  <a:cubicBezTo>
                    <a:pt x="2137586" y="2276082"/>
                    <a:pt x="2115223" y="2298445"/>
                    <a:pt x="2087636" y="2298445"/>
                  </a:cubicBezTo>
                  <a:lnTo>
                    <a:pt x="49949" y="2298445"/>
                  </a:lnTo>
                  <a:cubicBezTo>
                    <a:pt x="22363" y="2298445"/>
                    <a:pt x="0" y="2276082"/>
                    <a:pt x="0" y="2248495"/>
                  </a:cubicBezTo>
                  <a:lnTo>
                    <a:pt x="0" y="49949"/>
                  </a:lnTo>
                  <a:cubicBezTo>
                    <a:pt x="0" y="22363"/>
                    <a:pt x="22363" y="0"/>
                    <a:pt x="49949" y="0"/>
                  </a:cubicBezTo>
                  <a:close/>
                </a:path>
              </a:pathLst>
            </a:custGeom>
            <a:solidFill>
              <a:srgbClr val="FFFFFF"/>
            </a:solidFill>
          </p:spPr>
          <p:txBody>
            <a:bodyPr/>
            <a:lstStyle/>
            <a:p>
              <a:endParaRPr lang="ro-MD"/>
            </a:p>
          </p:txBody>
        </p:sp>
        <p:sp>
          <p:nvSpPr>
            <p:cNvPr id="7" name="TextBox 7"/>
            <p:cNvSpPr txBox="1"/>
            <p:nvPr/>
          </p:nvSpPr>
          <p:spPr>
            <a:xfrm>
              <a:off x="0" y="19050"/>
              <a:ext cx="2137586" cy="2279395"/>
            </a:xfrm>
            <a:prstGeom prst="rect">
              <a:avLst/>
            </a:prstGeom>
          </p:spPr>
          <p:txBody>
            <a:bodyPr lIns="50800" tIns="50800" rIns="50800" bIns="50800" rtlCol="0" anchor="ctr"/>
            <a:lstStyle/>
            <a:p>
              <a:pPr algn="ctr">
                <a:lnSpc>
                  <a:spcPts val="2598"/>
                </a:lnSpc>
              </a:pPr>
              <a:endParaRPr/>
            </a:p>
          </p:txBody>
        </p:sp>
      </p:grpSp>
      <p:sp>
        <p:nvSpPr>
          <p:cNvPr id="8" name="Freeform 8"/>
          <p:cNvSpPr/>
          <p:nvPr/>
        </p:nvSpPr>
        <p:spPr>
          <a:xfrm>
            <a:off x="8808225" y="4044878"/>
            <a:ext cx="5965561" cy="2171366"/>
          </a:xfrm>
          <a:custGeom>
            <a:avLst/>
            <a:gdLst/>
            <a:ahLst/>
            <a:cxnLst/>
            <a:rect l="l" t="t" r="r" b="b"/>
            <a:pathLst>
              <a:path w="5965561" h="2171366">
                <a:moveTo>
                  <a:pt x="0" y="0"/>
                </a:moveTo>
                <a:lnTo>
                  <a:pt x="5965561" y="0"/>
                </a:lnTo>
                <a:lnTo>
                  <a:pt x="5965561" y="2171366"/>
                </a:lnTo>
                <a:lnTo>
                  <a:pt x="0" y="2171366"/>
                </a:lnTo>
                <a:lnTo>
                  <a:pt x="0" y="0"/>
                </a:lnTo>
                <a:close/>
              </a:path>
            </a:pathLst>
          </a:custGeom>
          <a:blipFill>
            <a:blip r:embed="rId6">
              <a:extLst>
                <a:ext uri="{96DAC541-7B7A-43D3-8B79-37D633B846F1}">
                  <asvg:svgBlip xmlns:asvg="http://schemas.microsoft.com/office/drawing/2016/SVG/main" r:embed="rId7"/>
                </a:ext>
              </a:extLst>
            </a:blip>
            <a:stretch>
              <a:fillRect b="-220861"/>
            </a:stretch>
          </a:blipFill>
        </p:spPr>
        <p:txBody>
          <a:bodyPr/>
          <a:lstStyle/>
          <a:p>
            <a:endParaRPr lang="ro-MD"/>
          </a:p>
        </p:txBody>
      </p:sp>
      <p:sp>
        <p:nvSpPr>
          <p:cNvPr id="9" name="TextBox 9"/>
          <p:cNvSpPr txBox="1"/>
          <p:nvPr/>
        </p:nvSpPr>
        <p:spPr>
          <a:xfrm>
            <a:off x="1028700" y="2744811"/>
            <a:ext cx="7083138" cy="1372870"/>
          </a:xfrm>
          <a:prstGeom prst="rect">
            <a:avLst/>
          </a:prstGeom>
        </p:spPr>
        <p:txBody>
          <a:bodyPr lIns="0" tIns="0" rIns="0" bIns="0" rtlCol="0" anchor="t">
            <a:spAutoFit/>
          </a:bodyPr>
          <a:lstStyle/>
          <a:p>
            <a:pPr algn="l">
              <a:lnSpc>
                <a:spcPts val="10640"/>
              </a:lnSpc>
            </a:pPr>
            <a:r>
              <a:rPr lang="en-US" sz="9500">
                <a:solidFill>
                  <a:srgbClr val="E7FF2F"/>
                </a:solidFill>
                <a:latin typeface="Gagalin"/>
                <a:ea typeface="Gagalin"/>
                <a:cs typeface="Gagalin"/>
                <a:sym typeface="Gagalin"/>
              </a:rPr>
              <a:t>Sarcini:</a:t>
            </a:r>
          </a:p>
        </p:txBody>
      </p:sp>
      <p:sp>
        <p:nvSpPr>
          <p:cNvPr id="10" name="TextBox 10"/>
          <p:cNvSpPr txBox="1"/>
          <p:nvPr/>
        </p:nvSpPr>
        <p:spPr>
          <a:xfrm>
            <a:off x="1028700" y="4681418"/>
            <a:ext cx="1893496" cy="449142"/>
          </a:xfrm>
          <a:prstGeom prst="rect">
            <a:avLst/>
          </a:prstGeom>
        </p:spPr>
        <p:txBody>
          <a:bodyPr lIns="0" tIns="0" rIns="0" bIns="0" rtlCol="0" anchor="t">
            <a:spAutoFit/>
          </a:bodyPr>
          <a:lstStyle/>
          <a:p>
            <a:pPr algn="l">
              <a:lnSpc>
                <a:spcPts val="3498"/>
              </a:lnSpc>
            </a:pPr>
            <a:r>
              <a:rPr lang="en-US" sz="3123" b="1">
                <a:solidFill>
                  <a:srgbClr val="E7FF2F"/>
                </a:solidFill>
                <a:latin typeface="Neue Montreal Medium"/>
                <a:ea typeface="Neue Montreal Medium"/>
                <a:cs typeface="Neue Montreal Medium"/>
                <a:sym typeface="Neue Montreal Medium"/>
              </a:rPr>
              <a:t>INFO:</a:t>
            </a:r>
          </a:p>
        </p:txBody>
      </p:sp>
      <p:sp>
        <p:nvSpPr>
          <p:cNvPr id="11" name="TextBox 11"/>
          <p:cNvSpPr txBox="1"/>
          <p:nvPr/>
        </p:nvSpPr>
        <p:spPr>
          <a:xfrm>
            <a:off x="9048650" y="4937878"/>
            <a:ext cx="645849" cy="404448"/>
          </a:xfrm>
          <a:prstGeom prst="rect">
            <a:avLst/>
          </a:prstGeom>
        </p:spPr>
        <p:txBody>
          <a:bodyPr lIns="0" tIns="0" rIns="0" bIns="0" rtlCol="0" anchor="t">
            <a:spAutoFit/>
          </a:bodyPr>
          <a:lstStyle/>
          <a:p>
            <a:pPr algn="ctr">
              <a:lnSpc>
                <a:spcPts val="3152"/>
              </a:lnSpc>
            </a:pPr>
            <a:r>
              <a:rPr lang="en-US" sz="2814" b="1">
                <a:solidFill>
                  <a:srgbClr val="000000"/>
                </a:solidFill>
                <a:latin typeface="Neue Montreal Bold"/>
                <a:ea typeface="Neue Montreal Bold"/>
                <a:cs typeface="Neue Montreal Bold"/>
                <a:sym typeface="Neue Montreal Bold"/>
              </a:rPr>
              <a:t>02</a:t>
            </a:r>
          </a:p>
        </p:txBody>
      </p:sp>
      <p:sp>
        <p:nvSpPr>
          <p:cNvPr id="12" name="TextBox 12"/>
          <p:cNvSpPr txBox="1"/>
          <p:nvPr/>
        </p:nvSpPr>
        <p:spPr>
          <a:xfrm>
            <a:off x="9478613" y="6990382"/>
            <a:ext cx="645849" cy="404414"/>
          </a:xfrm>
          <a:prstGeom prst="rect">
            <a:avLst/>
          </a:prstGeom>
        </p:spPr>
        <p:txBody>
          <a:bodyPr lIns="0" tIns="0" rIns="0" bIns="0" rtlCol="0" anchor="t">
            <a:spAutoFit/>
          </a:bodyPr>
          <a:lstStyle/>
          <a:p>
            <a:pPr algn="ctr">
              <a:lnSpc>
                <a:spcPts val="3152"/>
              </a:lnSpc>
            </a:pPr>
            <a:r>
              <a:rPr lang="en-US" sz="2814" b="1">
                <a:solidFill>
                  <a:srgbClr val="000000"/>
                </a:solidFill>
                <a:latin typeface="Neue Montreal Bold"/>
                <a:ea typeface="Neue Montreal Bold"/>
                <a:cs typeface="Neue Montreal Bold"/>
                <a:sym typeface="Neue Montreal Bold"/>
              </a:rPr>
              <a:t>02</a:t>
            </a:r>
          </a:p>
        </p:txBody>
      </p:sp>
      <p:sp>
        <p:nvSpPr>
          <p:cNvPr id="13" name="TextBox 13"/>
          <p:cNvSpPr txBox="1"/>
          <p:nvPr/>
        </p:nvSpPr>
        <p:spPr>
          <a:xfrm>
            <a:off x="1063990" y="5521424"/>
            <a:ext cx="7487749" cy="1921927"/>
          </a:xfrm>
          <a:prstGeom prst="rect">
            <a:avLst/>
          </a:prstGeom>
        </p:spPr>
        <p:txBody>
          <a:bodyPr lIns="0" tIns="0" rIns="0" bIns="0" rtlCol="0" anchor="t">
            <a:spAutoFit/>
          </a:bodyPr>
          <a:lstStyle/>
          <a:p>
            <a:pPr algn="l">
              <a:lnSpc>
                <a:spcPts val="5121"/>
              </a:lnSpc>
            </a:pPr>
            <a:r>
              <a:rPr lang="en-US" sz="3658" b="1">
                <a:solidFill>
                  <a:srgbClr val="FFFFFF"/>
                </a:solidFill>
                <a:latin typeface="Neue Montreal Bold"/>
                <a:ea typeface="Neue Montreal Bold"/>
                <a:cs typeface="Neue Montreal Bold"/>
                <a:sym typeface="Neue Montreal Bold"/>
              </a:rPr>
              <a:t>Realizaţi următoarele sarcini în aplicația MS Excel:</a:t>
            </a:r>
          </a:p>
          <a:p>
            <a:pPr algn="l">
              <a:lnSpc>
                <a:spcPts val="5121"/>
              </a:lnSpc>
            </a:pPr>
            <a:endParaRPr lang="en-US" sz="3658" b="1">
              <a:solidFill>
                <a:srgbClr val="FFFFFF"/>
              </a:solidFill>
              <a:latin typeface="Neue Montreal Bold"/>
              <a:ea typeface="Neue Montreal Bold"/>
              <a:cs typeface="Neue Montreal Bold"/>
              <a:sym typeface="Neue Montreal Bold"/>
            </a:endParaRPr>
          </a:p>
        </p:txBody>
      </p:sp>
      <p:sp>
        <p:nvSpPr>
          <p:cNvPr id="14" name="TextBox 14"/>
          <p:cNvSpPr txBox="1"/>
          <p:nvPr/>
        </p:nvSpPr>
        <p:spPr>
          <a:xfrm>
            <a:off x="10909987" y="1532077"/>
            <a:ext cx="2900531" cy="450832"/>
          </a:xfrm>
          <a:prstGeom prst="rect">
            <a:avLst/>
          </a:prstGeom>
        </p:spPr>
        <p:txBody>
          <a:bodyPr lIns="0" tIns="0" rIns="0" bIns="0" rtlCol="0" anchor="t">
            <a:spAutoFit/>
          </a:bodyPr>
          <a:lstStyle/>
          <a:p>
            <a:pPr algn="l">
              <a:lnSpc>
                <a:spcPts val="3498"/>
              </a:lnSpc>
            </a:pPr>
            <a:r>
              <a:rPr lang="en-US" sz="3123">
                <a:solidFill>
                  <a:srgbClr val="000000"/>
                </a:solidFill>
                <a:latin typeface="Archivo Black"/>
                <a:ea typeface="Archivo Black"/>
                <a:cs typeface="Archivo Black"/>
                <a:sym typeface="Archivo Black"/>
              </a:rPr>
              <a:t>EXCEL</a:t>
            </a:r>
          </a:p>
        </p:txBody>
      </p:sp>
      <p:sp>
        <p:nvSpPr>
          <p:cNvPr id="15" name="TextBox 15"/>
          <p:cNvSpPr txBox="1"/>
          <p:nvPr/>
        </p:nvSpPr>
        <p:spPr>
          <a:xfrm>
            <a:off x="10614903" y="2037834"/>
            <a:ext cx="7149247" cy="7024329"/>
          </a:xfrm>
          <a:prstGeom prst="rect">
            <a:avLst/>
          </a:prstGeom>
        </p:spPr>
        <p:txBody>
          <a:bodyPr lIns="0" tIns="0" rIns="0" bIns="0" rtlCol="0" anchor="t">
            <a:spAutoFit/>
          </a:bodyPr>
          <a:lstStyle/>
          <a:p>
            <a:pPr algn="l">
              <a:lnSpc>
                <a:spcPts val="2820"/>
              </a:lnSpc>
            </a:pPr>
            <a:r>
              <a:rPr lang="en-US" sz="1567">
                <a:solidFill>
                  <a:srgbClr val="545454"/>
                </a:solidFill>
                <a:latin typeface="Gagalin"/>
                <a:ea typeface="Gagalin"/>
                <a:cs typeface="Gagalin"/>
                <a:sym typeface="Gagalin"/>
              </a:rPr>
              <a:t>1. Creaţi fişierul ToyMarket. Importați datele din fişierele text Toys.txt şi Manufacturer.txt în foi separate cu</a:t>
            </a:r>
          </a:p>
          <a:p>
            <a:pPr algn="l">
              <a:lnSpc>
                <a:spcPts val="2820"/>
              </a:lnSpc>
            </a:pPr>
            <a:r>
              <a:rPr lang="en-US" sz="1567">
                <a:solidFill>
                  <a:srgbClr val="545454"/>
                </a:solidFill>
                <a:latin typeface="Gagalin"/>
                <a:ea typeface="Gagalin"/>
                <a:cs typeface="Gagalin"/>
                <a:sym typeface="Gagalin"/>
              </a:rPr>
              <a:t>denumirile corespunzătoare.</a:t>
            </a:r>
          </a:p>
          <a:p>
            <a:pPr algn="l">
              <a:lnSpc>
                <a:spcPts val="2820"/>
              </a:lnSpc>
            </a:pPr>
            <a:r>
              <a:rPr lang="en-US" sz="1567">
                <a:solidFill>
                  <a:srgbClr val="545454"/>
                </a:solidFill>
                <a:latin typeface="Gagalin"/>
                <a:ea typeface="Gagalin"/>
                <a:cs typeface="Gagalin"/>
                <a:sym typeface="Gagalin"/>
              </a:rPr>
              <a:t>2. Adăugați titlu pentru fiecare tabel şi etichetați corespunzător coloanele.</a:t>
            </a:r>
          </a:p>
          <a:p>
            <a:pPr algn="l">
              <a:lnSpc>
                <a:spcPts val="2820"/>
              </a:lnSpc>
            </a:pPr>
            <a:r>
              <a:rPr lang="en-US" sz="1567">
                <a:solidFill>
                  <a:srgbClr val="545454"/>
                </a:solidFill>
                <a:latin typeface="Gagalin"/>
                <a:ea typeface="Gagalin"/>
                <a:cs typeface="Gagalin"/>
                <a:sym typeface="Gagalin"/>
              </a:rPr>
              <a:t>3. Formatați tabelele: adăugați margini, culoare, märime, tip font etc.</a:t>
            </a:r>
          </a:p>
          <a:p>
            <a:pPr algn="l">
              <a:lnSpc>
                <a:spcPts val="2820"/>
              </a:lnSpc>
            </a:pPr>
            <a:r>
              <a:rPr lang="en-US" sz="1567">
                <a:solidFill>
                  <a:srgbClr val="545454"/>
                </a:solidFill>
                <a:latin typeface="Gagalin"/>
                <a:ea typeface="Gagalin"/>
                <a:cs typeface="Gagalin"/>
                <a:sym typeface="Gagalin"/>
              </a:rPr>
              <a:t>4. Valorile codului producătorului şi categoria în tabelul Jucării şi ţara în tabelul Producători trebuie selectate dintr-o listă derulantă.</a:t>
            </a:r>
          </a:p>
          <a:p>
            <a:pPr algn="l">
              <a:lnSpc>
                <a:spcPts val="2820"/>
              </a:lnSpc>
            </a:pPr>
            <a:r>
              <a:rPr lang="en-US" sz="1567">
                <a:solidFill>
                  <a:srgbClr val="545454"/>
                </a:solidFill>
                <a:latin typeface="Gagalin"/>
                <a:ea typeface="Gagalin"/>
                <a:cs typeface="Gagalin"/>
                <a:sym typeface="Gagalin"/>
              </a:rPr>
              <a:t>5. în tabelul Jucării, adăugați o coloană suplimentară care să conțină fotografia jucăriei. Pentru titlul tabelului, adăugați un comentariu care să conțină sigla magazinului de jucării.</a:t>
            </a:r>
          </a:p>
          <a:p>
            <a:pPr algn="l">
              <a:lnSpc>
                <a:spcPts val="2820"/>
              </a:lnSpc>
            </a:pPr>
            <a:r>
              <a:rPr lang="en-US" sz="1567">
                <a:solidFill>
                  <a:srgbClr val="545454"/>
                </a:solidFill>
                <a:latin typeface="Gagalin"/>
                <a:ea typeface="Gagalin"/>
                <a:cs typeface="Gagalin"/>
                <a:sym typeface="Gagalin"/>
              </a:rPr>
              <a:t>6. În tabelul Producători, adăugați o nouă coloană care să conțină numărul de jucării produse și o nouă linie care să conțină totalul tuturor jucăriilor.</a:t>
            </a:r>
          </a:p>
          <a:p>
            <a:pPr algn="l">
              <a:lnSpc>
                <a:spcPts val="2820"/>
              </a:lnSpc>
            </a:pPr>
            <a:r>
              <a:rPr lang="en-US" sz="1567">
                <a:solidFill>
                  <a:srgbClr val="545454"/>
                </a:solidFill>
                <a:latin typeface="Gagalin"/>
                <a:ea typeface="Gagalin"/>
                <a:cs typeface="Gagalin"/>
                <a:sym typeface="Gagalin"/>
              </a:rPr>
              <a:t>7. Calculați numărul de tipuri de jucării şi preţul mediu pentru fiecare țară. Salvați calculele corespunzătoare în foaia Statistici.</a:t>
            </a:r>
          </a:p>
          <a:p>
            <a:pPr algn="l">
              <a:lnSpc>
                <a:spcPts val="2820"/>
              </a:lnSpc>
            </a:pPr>
            <a:r>
              <a:rPr lang="en-US" sz="1567">
                <a:solidFill>
                  <a:srgbClr val="545454"/>
                </a:solidFill>
                <a:latin typeface="Gagalin"/>
                <a:ea typeface="Gagalin"/>
                <a:cs typeface="Gagalin"/>
                <a:sym typeface="Gagalin"/>
              </a:rPr>
              <a:t>8. Reprezentaţi grafic numărul de jucării pentru mici copii, pentru băieți, pentru fete.</a:t>
            </a:r>
          </a:p>
          <a:p>
            <a:pPr algn="l">
              <a:lnSpc>
                <a:spcPts val="2820"/>
              </a:lnSpc>
            </a:pPr>
            <a:r>
              <a:rPr lang="en-US" sz="1567">
                <a:solidFill>
                  <a:srgbClr val="545454"/>
                </a:solidFill>
                <a:latin typeface="Gagalin"/>
                <a:ea typeface="Gagalin"/>
                <a:cs typeface="Gagalin"/>
                <a:sym typeface="Gagalin"/>
              </a:rPr>
              <a:t>9. Afişați informațiile despre toate jucăriile producătorului, a cărui nume este ales din lista derulantă (ComboBox)</a:t>
            </a:r>
          </a:p>
          <a:p>
            <a:pPr algn="l">
              <a:lnSpc>
                <a:spcPts val="2820"/>
              </a:lnSpc>
            </a:pPr>
            <a:r>
              <a:rPr lang="en-US" sz="1567">
                <a:solidFill>
                  <a:srgbClr val="545454"/>
                </a:solidFill>
                <a:latin typeface="Gagalin"/>
                <a:ea typeface="Gagalin"/>
                <a:cs typeface="Gagalin"/>
                <a:sym typeface="Gagalin"/>
              </a:rPr>
              <a:t>10. Afişaţi fotografia jucăriei, al cărei nume este ales din lista derulantă.</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21723"/>
        </a:solidFill>
        <a:effectLst/>
      </p:bgPr>
    </p:bg>
    <p:spTree>
      <p:nvGrpSpPr>
        <p:cNvPr id="1" name=""/>
        <p:cNvGrpSpPr/>
        <p:nvPr/>
      </p:nvGrpSpPr>
      <p:grpSpPr>
        <a:xfrm>
          <a:off x="0" y="0"/>
          <a:ext cx="0" cy="0"/>
          <a:chOff x="0" y="0"/>
          <a:chExt cx="0" cy="0"/>
        </a:xfrm>
      </p:grpSpPr>
      <p:sp>
        <p:nvSpPr>
          <p:cNvPr id="2" name="Freeform 2"/>
          <p:cNvSpPr/>
          <p:nvPr/>
        </p:nvSpPr>
        <p:spPr>
          <a:xfrm>
            <a:off x="1063990" y="1028700"/>
            <a:ext cx="1276643" cy="968653"/>
          </a:xfrm>
          <a:custGeom>
            <a:avLst/>
            <a:gdLst/>
            <a:ahLst/>
            <a:cxnLst/>
            <a:rect l="l" t="t" r="r" b="b"/>
            <a:pathLst>
              <a:path w="1276643" h="968653">
                <a:moveTo>
                  <a:pt x="0" y="0"/>
                </a:moveTo>
                <a:lnTo>
                  <a:pt x="1276643" y="0"/>
                </a:lnTo>
                <a:lnTo>
                  <a:pt x="1276643" y="968653"/>
                </a:lnTo>
                <a:lnTo>
                  <a:pt x="0" y="96865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ro-MD"/>
          </a:p>
        </p:txBody>
      </p:sp>
      <p:sp>
        <p:nvSpPr>
          <p:cNvPr id="3" name="Freeform 3"/>
          <p:cNvSpPr/>
          <p:nvPr/>
        </p:nvSpPr>
        <p:spPr>
          <a:xfrm>
            <a:off x="-804089" y="8123318"/>
            <a:ext cx="7064034" cy="4114800"/>
          </a:xfrm>
          <a:custGeom>
            <a:avLst/>
            <a:gdLst/>
            <a:ahLst/>
            <a:cxnLst/>
            <a:rect l="l" t="t" r="r" b="b"/>
            <a:pathLst>
              <a:path w="7064034" h="4114800">
                <a:moveTo>
                  <a:pt x="0" y="0"/>
                </a:moveTo>
                <a:lnTo>
                  <a:pt x="7064034" y="0"/>
                </a:lnTo>
                <a:lnTo>
                  <a:pt x="7064034"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ro-MD"/>
          </a:p>
        </p:txBody>
      </p:sp>
      <p:sp>
        <p:nvSpPr>
          <p:cNvPr id="4" name="TextBox 4"/>
          <p:cNvSpPr txBox="1"/>
          <p:nvPr/>
        </p:nvSpPr>
        <p:spPr>
          <a:xfrm>
            <a:off x="1028700" y="3147433"/>
            <a:ext cx="7597568" cy="2715895"/>
          </a:xfrm>
          <a:prstGeom prst="rect">
            <a:avLst/>
          </a:prstGeom>
        </p:spPr>
        <p:txBody>
          <a:bodyPr lIns="0" tIns="0" rIns="0" bIns="0" rtlCol="0" anchor="t">
            <a:spAutoFit/>
          </a:bodyPr>
          <a:lstStyle/>
          <a:p>
            <a:pPr algn="l">
              <a:lnSpc>
                <a:spcPts val="10640"/>
              </a:lnSpc>
            </a:pPr>
            <a:r>
              <a:rPr lang="en-US" sz="9500">
                <a:solidFill>
                  <a:srgbClr val="E7FF2F"/>
                </a:solidFill>
                <a:latin typeface="Gagalin"/>
                <a:ea typeface="Gagalin"/>
                <a:cs typeface="Gagalin"/>
                <a:sym typeface="Gagalin"/>
              </a:rPr>
              <a:t>Conținutul fișierului:</a:t>
            </a:r>
          </a:p>
        </p:txBody>
      </p:sp>
      <p:sp>
        <p:nvSpPr>
          <p:cNvPr id="5" name="TextBox 5"/>
          <p:cNvSpPr txBox="1"/>
          <p:nvPr/>
        </p:nvSpPr>
        <p:spPr>
          <a:xfrm>
            <a:off x="9525831" y="366047"/>
            <a:ext cx="4460096" cy="449142"/>
          </a:xfrm>
          <a:prstGeom prst="rect">
            <a:avLst/>
          </a:prstGeom>
        </p:spPr>
        <p:txBody>
          <a:bodyPr lIns="0" tIns="0" rIns="0" bIns="0" rtlCol="0" anchor="t">
            <a:spAutoFit/>
          </a:bodyPr>
          <a:lstStyle/>
          <a:p>
            <a:pPr algn="l">
              <a:lnSpc>
                <a:spcPts val="3498"/>
              </a:lnSpc>
            </a:pPr>
            <a:r>
              <a:rPr lang="en-US" sz="3123" b="1">
                <a:solidFill>
                  <a:srgbClr val="E7FF2F"/>
                </a:solidFill>
                <a:latin typeface="Neue Montreal Medium"/>
                <a:ea typeface="Neue Montreal Medium"/>
                <a:cs typeface="Neue Montreal Medium"/>
                <a:sym typeface="Neue Montreal Medium"/>
              </a:rPr>
              <a:t>Toys.txt</a:t>
            </a:r>
          </a:p>
        </p:txBody>
      </p:sp>
      <p:grpSp>
        <p:nvGrpSpPr>
          <p:cNvPr id="6" name="Group 6"/>
          <p:cNvGrpSpPr/>
          <p:nvPr/>
        </p:nvGrpSpPr>
        <p:grpSpPr>
          <a:xfrm>
            <a:off x="9144000" y="1352225"/>
            <a:ext cx="5530396" cy="9093132"/>
            <a:chOff x="0" y="0"/>
            <a:chExt cx="1495511" cy="2458933"/>
          </a:xfrm>
        </p:grpSpPr>
        <p:sp>
          <p:nvSpPr>
            <p:cNvPr id="7" name="Freeform 7"/>
            <p:cNvSpPr/>
            <p:nvPr/>
          </p:nvSpPr>
          <p:spPr>
            <a:xfrm>
              <a:off x="0" y="0"/>
              <a:ext cx="1495511" cy="2458933"/>
            </a:xfrm>
            <a:custGeom>
              <a:avLst/>
              <a:gdLst/>
              <a:ahLst/>
              <a:cxnLst/>
              <a:rect l="l" t="t" r="r" b="b"/>
              <a:pathLst>
                <a:path w="1495511" h="2458933">
                  <a:moveTo>
                    <a:pt x="71394" y="0"/>
                  </a:moveTo>
                  <a:lnTo>
                    <a:pt x="1424116" y="0"/>
                  </a:lnTo>
                  <a:cubicBezTo>
                    <a:pt x="1443051" y="0"/>
                    <a:pt x="1461211" y="7522"/>
                    <a:pt x="1474600" y="20911"/>
                  </a:cubicBezTo>
                  <a:cubicBezTo>
                    <a:pt x="1487989" y="34300"/>
                    <a:pt x="1495511" y="52459"/>
                    <a:pt x="1495511" y="71394"/>
                  </a:cubicBezTo>
                  <a:lnTo>
                    <a:pt x="1495511" y="2387539"/>
                  </a:lnTo>
                  <a:cubicBezTo>
                    <a:pt x="1495511" y="2406474"/>
                    <a:pt x="1487989" y="2424633"/>
                    <a:pt x="1474600" y="2438022"/>
                  </a:cubicBezTo>
                  <a:cubicBezTo>
                    <a:pt x="1461211" y="2451411"/>
                    <a:pt x="1443051" y="2458933"/>
                    <a:pt x="1424116" y="2458933"/>
                  </a:cubicBezTo>
                  <a:lnTo>
                    <a:pt x="71394" y="2458933"/>
                  </a:lnTo>
                  <a:cubicBezTo>
                    <a:pt x="52459" y="2458933"/>
                    <a:pt x="34300" y="2451411"/>
                    <a:pt x="20911" y="2438022"/>
                  </a:cubicBezTo>
                  <a:cubicBezTo>
                    <a:pt x="7522" y="2424633"/>
                    <a:pt x="0" y="2406474"/>
                    <a:pt x="0" y="2387539"/>
                  </a:cubicBezTo>
                  <a:lnTo>
                    <a:pt x="0" y="71394"/>
                  </a:lnTo>
                  <a:cubicBezTo>
                    <a:pt x="0" y="52459"/>
                    <a:pt x="7522" y="34300"/>
                    <a:pt x="20911" y="20911"/>
                  </a:cubicBezTo>
                  <a:cubicBezTo>
                    <a:pt x="34300" y="7522"/>
                    <a:pt x="52459" y="0"/>
                    <a:pt x="71394" y="0"/>
                  </a:cubicBezTo>
                  <a:close/>
                </a:path>
              </a:pathLst>
            </a:custGeom>
            <a:solidFill>
              <a:srgbClr val="FFFFFF"/>
            </a:solidFill>
          </p:spPr>
          <p:txBody>
            <a:bodyPr/>
            <a:lstStyle/>
            <a:p>
              <a:endParaRPr lang="ro-MD"/>
            </a:p>
          </p:txBody>
        </p:sp>
        <p:sp>
          <p:nvSpPr>
            <p:cNvPr id="8" name="TextBox 8"/>
            <p:cNvSpPr txBox="1"/>
            <p:nvPr/>
          </p:nvSpPr>
          <p:spPr>
            <a:xfrm>
              <a:off x="0" y="19050"/>
              <a:ext cx="1495511" cy="2439883"/>
            </a:xfrm>
            <a:prstGeom prst="rect">
              <a:avLst/>
            </a:prstGeom>
          </p:spPr>
          <p:txBody>
            <a:bodyPr lIns="50800" tIns="50800" rIns="50800" bIns="50800" rtlCol="0" anchor="ctr"/>
            <a:lstStyle/>
            <a:p>
              <a:pPr algn="ctr">
                <a:lnSpc>
                  <a:spcPts val="2598"/>
                </a:lnSpc>
              </a:pPr>
              <a:endParaRPr/>
            </a:p>
          </p:txBody>
        </p:sp>
      </p:grpSp>
      <p:sp>
        <p:nvSpPr>
          <p:cNvPr id="9" name="TextBox 9"/>
          <p:cNvSpPr txBox="1"/>
          <p:nvPr/>
        </p:nvSpPr>
        <p:spPr>
          <a:xfrm>
            <a:off x="9803495" y="1417542"/>
            <a:ext cx="3904768" cy="8853474"/>
          </a:xfrm>
          <a:prstGeom prst="rect">
            <a:avLst/>
          </a:prstGeom>
        </p:spPr>
        <p:txBody>
          <a:bodyPr lIns="0" tIns="0" rIns="0" bIns="0" rtlCol="0" anchor="t">
            <a:spAutoFit/>
          </a:bodyPr>
          <a:lstStyle/>
          <a:p>
            <a:pPr algn="l">
              <a:lnSpc>
                <a:spcPts val="2363"/>
              </a:lnSpc>
            </a:pPr>
            <a:r>
              <a:rPr lang="en-US" sz="1688" b="1">
                <a:solidFill>
                  <a:srgbClr val="000000"/>
                </a:solidFill>
                <a:latin typeface="Neue Montreal Bold"/>
                <a:ea typeface="Neue Montreal Bold"/>
                <a:cs typeface="Neue Montreal Bold"/>
                <a:sym typeface="Neue Montreal Bold"/>
              </a:rPr>
              <a:t>Unicorn 150 550 fete 1</a:t>
            </a:r>
          </a:p>
          <a:p>
            <a:pPr algn="l">
              <a:lnSpc>
                <a:spcPts val="2363"/>
              </a:lnSpc>
            </a:pPr>
            <a:r>
              <a:rPr lang="en-US" sz="1688" b="1">
                <a:solidFill>
                  <a:srgbClr val="000000"/>
                </a:solidFill>
                <a:latin typeface="Neue Montreal Bold"/>
                <a:ea typeface="Neue Montreal Bold"/>
                <a:cs typeface="Neue Montreal Bold"/>
                <a:sym typeface="Neue Montreal Bold"/>
              </a:rPr>
              <a:t>Masina 80 1000 baieti 2</a:t>
            </a:r>
          </a:p>
          <a:p>
            <a:pPr algn="l">
              <a:lnSpc>
                <a:spcPts val="2363"/>
              </a:lnSpc>
            </a:pPr>
            <a:r>
              <a:rPr lang="en-US" sz="1688" b="1">
                <a:solidFill>
                  <a:srgbClr val="000000"/>
                </a:solidFill>
                <a:latin typeface="Neue Montreal Bold"/>
                <a:ea typeface="Neue Montreal Bold"/>
                <a:cs typeface="Neue Montreal Bold"/>
                <a:sym typeface="Neue Montreal Bold"/>
              </a:rPr>
              <a:t>Papusa 120 750 fete 1</a:t>
            </a:r>
          </a:p>
          <a:p>
            <a:pPr algn="l">
              <a:lnSpc>
                <a:spcPts val="2363"/>
              </a:lnSpc>
            </a:pPr>
            <a:r>
              <a:rPr lang="en-US" sz="1688" b="1">
                <a:solidFill>
                  <a:srgbClr val="000000"/>
                </a:solidFill>
                <a:latin typeface="Neue Montreal Bold"/>
                <a:ea typeface="Neue Montreal Bold"/>
                <a:cs typeface="Neue Montreal Bold"/>
                <a:sym typeface="Neue Montreal Bold"/>
              </a:rPr>
              <a:t>Balon 15 5000 copii_mici 4</a:t>
            </a:r>
          </a:p>
          <a:p>
            <a:pPr algn="l">
              <a:lnSpc>
                <a:spcPts val="2363"/>
              </a:lnSpc>
            </a:pPr>
            <a:r>
              <a:rPr lang="en-US" sz="1688" b="1">
                <a:solidFill>
                  <a:srgbClr val="000000"/>
                </a:solidFill>
                <a:latin typeface="Neue Montreal Bold"/>
                <a:ea typeface="Neue Montreal Bold"/>
                <a:cs typeface="Neue Montreal Bold"/>
                <a:sym typeface="Neue Montreal Bold"/>
              </a:rPr>
              <a:t>Cuburi 60 1500 copii_mici 2</a:t>
            </a:r>
          </a:p>
          <a:p>
            <a:pPr algn="l">
              <a:lnSpc>
                <a:spcPts val="2363"/>
              </a:lnSpc>
            </a:pPr>
            <a:r>
              <a:rPr lang="en-US" sz="1688" b="1">
                <a:solidFill>
                  <a:srgbClr val="000000"/>
                </a:solidFill>
                <a:latin typeface="Neue Montreal Bold"/>
                <a:ea typeface="Neue Montreal Bold"/>
                <a:cs typeface="Neue Montreal Bold"/>
                <a:sym typeface="Neue Montreal Bold"/>
              </a:rPr>
              <a:t>Trenulet 190 400 baieti 1</a:t>
            </a:r>
          </a:p>
          <a:p>
            <a:pPr algn="l">
              <a:lnSpc>
                <a:spcPts val="2363"/>
              </a:lnSpc>
            </a:pPr>
            <a:r>
              <a:rPr lang="en-US" sz="1688" b="1">
                <a:solidFill>
                  <a:srgbClr val="000000"/>
                </a:solidFill>
                <a:latin typeface="Neue Montreal Bold"/>
                <a:ea typeface="Neue Montreal Bold"/>
                <a:cs typeface="Neue Montreal Bold"/>
                <a:sym typeface="Neue Montreal Bold"/>
              </a:rPr>
              <a:t>Avion 220 350 baieti 7</a:t>
            </a:r>
          </a:p>
          <a:p>
            <a:pPr algn="l">
              <a:lnSpc>
                <a:spcPts val="2363"/>
              </a:lnSpc>
            </a:pPr>
            <a:r>
              <a:rPr lang="en-US" sz="1688" b="1">
                <a:solidFill>
                  <a:srgbClr val="000000"/>
                </a:solidFill>
                <a:latin typeface="Neue Montreal Bold"/>
                <a:ea typeface="Neue Montreal Bold"/>
                <a:cs typeface="Neue Montreal Bold"/>
                <a:sym typeface="Neue Montreal Bold"/>
              </a:rPr>
              <a:t>Ursulet 95 900 copii_mici 8</a:t>
            </a:r>
          </a:p>
          <a:p>
            <a:pPr algn="l">
              <a:lnSpc>
                <a:spcPts val="2363"/>
              </a:lnSpc>
            </a:pPr>
            <a:r>
              <a:rPr lang="en-US" sz="1688" b="1">
                <a:solidFill>
                  <a:srgbClr val="000000"/>
                </a:solidFill>
                <a:latin typeface="Neue Montreal Bold"/>
                <a:ea typeface="Neue Montreal Bold"/>
                <a:cs typeface="Neue Montreal Bold"/>
                <a:sym typeface="Neue Montreal Bold"/>
              </a:rPr>
              <a:t>Puzzle 50 1800 copii_mici 10</a:t>
            </a:r>
          </a:p>
          <a:p>
            <a:pPr algn="l">
              <a:lnSpc>
                <a:spcPts val="2363"/>
              </a:lnSpc>
            </a:pPr>
            <a:r>
              <a:rPr lang="en-US" sz="1688" b="1">
                <a:solidFill>
                  <a:srgbClr val="000000"/>
                </a:solidFill>
                <a:latin typeface="Neue Montreal Bold"/>
                <a:ea typeface="Neue Montreal Bold"/>
                <a:cs typeface="Neue Montreal Bold"/>
                <a:sym typeface="Neue Montreal Bold"/>
              </a:rPr>
              <a:t>Robot 280 250 baieti 1</a:t>
            </a:r>
          </a:p>
          <a:p>
            <a:pPr algn="l">
              <a:lnSpc>
                <a:spcPts val="2363"/>
              </a:lnSpc>
            </a:pPr>
            <a:r>
              <a:rPr lang="en-US" sz="1688" b="1">
                <a:solidFill>
                  <a:srgbClr val="000000"/>
                </a:solidFill>
                <a:latin typeface="Neue Montreal Bold"/>
                <a:ea typeface="Neue Montreal Bold"/>
                <a:cs typeface="Neue Montreal Bold"/>
                <a:sym typeface="Neue Montreal Bold"/>
              </a:rPr>
              <a:t>Calut 160 600 fete 11</a:t>
            </a:r>
          </a:p>
          <a:p>
            <a:pPr algn="l">
              <a:lnSpc>
                <a:spcPts val="2363"/>
              </a:lnSpc>
            </a:pPr>
            <a:r>
              <a:rPr lang="en-US" sz="1688" b="1">
                <a:solidFill>
                  <a:srgbClr val="000000"/>
                </a:solidFill>
                <a:latin typeface="Neue Montreal Bold"/>
                <a:ea typeface="Neue Montreal Bold"/>
                <a:cs typeface="Neue Montreal Bold"/>
                <a:sym typeface="Neue Montreal Bold"/>
              </a:rPr>
              <a:t>Carte 40 2500 copii_mici 12</a:t>
            </a:r>
          </a:p>
          <a:p>
            <a:pPr algn="l">
              <a:lnSpc>
                <a:spcPts val="2363"/>
              </a:lnSpc>
            </a:pPr>
            <a:r>
              <a:rPr lang="en-US" sz="1688" b="1">
                <a:solidFill>
                  <a:srgbClr val="000000"/>
                </a:solidFill>
                <a:latin typeface="Neue Montreal Bold"/>
                <a:ea typeface="Neue Montreal Bold"/>
                <a:cs typeface="Neue Montreal Bold"/>
                <a:sym typeface="Neue Montreal Bold"/>
              </a:rPr>
              <a:t>Tobogan 450 100 copii_mici 13</a:t>
            </a:r>
          </a:p>
          <a:p>
            <a:pPr algn="l">
              <a:lnSpc>
                <a:spcPts val="2363"/>
              </a:lnSpc>
            </a:pPr>
            <a:r>
              <a:rPr lang="en-US" sz="1688" b="1">
                <a:solidFill>
                  <a:srgbClr val="000000"/>
                </a:solidFill>
                <a:latin typeface="Neue Montreal Bold"/>
                <a:ea typeface="Neue Montreal Bold"/>
                <a:cs typeface="Neue Montreal Bold"/>
                <a:sym typeface="Neue Montreal Bold"/>
              </a:rPr>
              <a:t>Pistol 70 1200 baieti 14</a:t>
            </a:r>
          </a:p>
          <a:p>
            <a:pPr algn="l">
              <a:lnSpc>
                <a:spcPts val="2363"/>
              </a:lnSpc>
            </a:pPr>
            <a:r>
              <a:rPr lang="en-US" sz="1688" b="1">
                <a:solidFill>
                  <a:srgbClr val="000000"/>
                </a:solidFill>
                <a:latin typeface="Neue Montreal Bold"/>
                <a:ea typeface="Neue Montreal Bold"/>
                <a:cs typeface="Neue Montreal Bold"/>
                <a:sym typeface="Neue Montreal Bold"/>
              </a:rPr>
              <a:t>Trotineta 320 200 fete 16</a:t>
            </a:r>
          </a:p>
          <a:p>
            <a:pPr algn="l">
              <a:lnSpc>
                <a:spcPts val="2363"/>
              </a:lnSpc>
            </a:pPr>
            <a:r>
              <a:rPr lang="en-US" sz="1688" b="1">
                <a:solidFill>
                  <a:srgbClr val="000000"/>
                </a:solidFill>
                <a:latin typeface="Neue Montreal Bold"/>
                <a:ea typeface="Neue Montreal Bold"/>
                <a:cs typeface="Neue Montreal Bold"/>
                <a:sym typeface="Neue Montreal Bold"/>
              </a:rPr>
              <a:t>Castel 200 500 fete 16</a:t>
            </a:r>
          </a:p>
          <a:p>
            <a:pPr algn="l">
              <a:lnSpc>
                <a:spcPts val="2363"/>
              </a:lnSpc>
            </a:pPr>
            <a:r>
              <a:rPr lang="en-US" sz="1688" b="1">
                <a:solidFill>
                  <a:srgbClr val="000000"/>
                </a:solidFill>
                <a:latin typeface="Neue Montreal Bold"/>
                <a:ea typeface="Neue Montreal Bold"/>
                <a:cs typeface="Neue Montreal Bold"/>
                <a:sym typeface="Neue Montreal Bold"/>
              </a:rPr>
              <a:t>Minge 30 3000 baieti 17</a:t>
            </a:r>
          </a:p>
          <a:p>
            <a:pPr algn="l">
              <a:lnSpc>
                <a:spcPts val="2363"/>
              </a:lnSpc>
            </a:pPr>
            <a:r>
              <a:rPr lang="en-US" sz="1688" b="1">
                <a:solidFill>
                  <a:srgbClr val="000000"/>
                </a:solidFill>
                <a:latin typeface="Neue Montreal Bold"/>
                <a:ea typeface="Neue Montreal Bold"/>
                <a:cs typeface="Neue Montreal Bold"/>
                <a:sym typeface="Neue Montreal Bold"/>
              </a:rPr>
              <a:t>Papusica 65 1500 fete 18</a:t>
            </a:r>
          </a:p>
          <a:p>
            <a:pPr algn="l">
              <a:lnSpc>
                <a:spcPts val="2363"/>
              </a:lnSpc>
            </a:pPr>
            <a:r>
              <a:rPr lang="en-US" sz="1688" b="1">
                <a:solidFill>
                  <a:srgbClr val="000000"/>
                </a:solidFill>
                <a:latin typeface="Neue Montreal Bold"/>
                <a:ea typeface="Neue Montreal Bold"/>
                <a:cs typeface="Neue Montreal Bold"/>
                <a:sym typeface="Neue Montreal Bold"/>
              </a:rPr>
              <a:t>Xilofon 110 800 copii_mici 19</a:t>
            </a:r>
          </a:p>
          <a:p>
            <a:pPr algn="l">
              <a:lnSpc>
                <a:spcPts val="2363"/>
              </a:lnSpc>
            </a:pPr>
            <a:r>
              <a:rPr lang="en-US" sz="1688" b="1">
                <a:solidFill>
                  <a:srgbClr val="000000"/>
                </a:solidFill>
                <a:latin typeface="Neue Montreal Bold"/>
                <a:ea typeface="Neue Montreal Bold"/>
                <a:cs typeface="Neue Montreal Bold"/>
                <a:sym typeface="Neue Montreal Bold"/>
              </a:rPr>
              <a:t>Bicicleta 380 150 baieti 2</a:t>
            </a:r>
          </a:p>
          <a:p>
            <a:pPr algn="l">
              <a:lnSpc>
                <a:spcPts val="2363"/>
              </a:lnSpc>
            </a:pPr>
            <a:r>
              <a:rPr lang="en-US" sz="1688" b="1">
                <a:solidFill>
                  <a:srgbClr val="000000"/>
                </a:solidFill>
                <a:latin typeface="Neue Montreal Bold"/>
                <a:ea typeface="Neue Montreal Bold"/>
                <a:cs typeface="Neue Montreal Bold"/>
                <a:sym typeface="Neue Montreal Bold"/>
              </a:rPr>
              <a:t>Coronita 45 2000 fete 21</a:t>
            </a:r>
          </a:p>
          <a:p>
            <a:pPr algn="l">
              <a:lnSpc>
                <a:spcPts val="2363"/>
              </a:lnSpc>
            </a:pPr>
            <a:r>
              <a:rPr lang="en-US" sz="1688" b="1">
                <a:solidFill>
                  <a:srgbClr val="000000"/>
                </a:solidFill>
                <a:latin typeface="Neue Montreal Bold"/>
                <a:ea typeface="Neue Montreal Bold"/>
                <a:cs typeface="Neue Montreal Bold"/>
                <a:sym typeface="Neue Montreal Bold"/>
              </a:rPr>
              <a:t>Telescop 260 300 baieti 22</a:t>
            </a:r>
          </a:p>
          <a:p>
            <a:pPr algn="l">
              <a:lnSpc>
                <a:spcPts val="2363"/>
              </a:lnSpc>
            </a:pPr>
            <a:r>
              <a:rPr lang="en-US" sz="1688" b="1">
                <a:solidFill>
                  <a:srgbClr val="000000"/>
                </a:solidFill>
                <a:latin typeface="Neue Montreal Bold"/>
                <a:ea typeface="Neue Montreal Bold"/>
                <a:cs typeface="Neue Montreal Bold"/>
                <a:sym typeface="Neue Montreal Bold"/>
              </a:rPr>
              <a:t>Bagheta 25 2800 fete 24</a:t>
            </a:r>
          </a:p>
          <a:p>
            <a:pPr algn="l">
              <a:lnSpc>
                <a:spcPts val="2363"/>
              </a:lnSpc>
            </a:pPr>
            <a:r>
              <a:rPr lang="en-US" sz="1688" b="1">
                <a:solidFill>
                  <a:srgbClr val="000000"/>
                </a:solidFill>
                <a:latin typeface="Neue Montreal Bold"/>
                <a:ea typeface="Neue Montreal Bold"/>
                <a:cs typeface="Neue Montreal Bold"/>
                <a:sym typeface="Neue Montreal Bold"/>
              </a:rPr>
              <a:t>Tambur 130 700 copii_mici 2</a:t>
            </a:r>
          </a:p>
          <a:p>
            <a:pPr algn="l">
              <a:lnSpc>
                <a:spcPts val="2363"/>
              </a:lnSpc>
            </a:pPr>
            <a:r>
              <a:rPr lang="en-US" sz="1688" b="1">
                <a:solidFill>
                  <a:srgbClr val="000000"/>
                </a:solidFill>
                <a:latin typeface="Neue Montreal Bold"/>
                <a:ea typeface="Neue Montreal Bold"/>
                <a:cs typeface="Neue Montreal Bold"/>
                <a:sym typeface="Neue Montreal Bold"/>
              </a:rPr>
              <a:t>Tractor 170 400 baieti 26</a:t>
            </a:r>
          </a:p>
          <a:p>
            <a:pPr algn="l">
              <a:lnSpc>
                <a:spcPts val="2363"/>
              </a:lnSpc>
            </a:pPr>
            <a:r>
              <a:rPr lang="en-US" sz="1688" b="1">
                <a:solidFill>
                  <a:srgbClr val="000000"/>
                </a:solidFill>
                <a:latin typeface="Neue Montreal Bold"/>
                <a:ea typeface="Neue Montreal Bold"/>
                <a:cs typeface="Neue Montreal Bold"/>
                <a:sym typeface="Neue Montreal Bold"/>
              </a:rPr>
              <a:t>PapusaBarbie 250 600 fete 29</a:t>
            </a:r>
          </a:p>
          <a:p>
            <a:pPr algn="l">
              <a:lnSpc>
                <a:spcPts val="2363"/>
              </a:lnSpc>
            </a:pPr>
            <a:r>
              <a:rPr lang="en-US" sz="1688" b="1">
                <a:solidFill>
                  <a:srgbClr val="000000"/>
                </a:solidFill>
                <a:latin typeface="Neue Montreal Bold"/>
                <a:ea typeface="Neue Montreal Bold"/>
                <a:cs typeface="Neue Montreal Bold"/>
                <a:sym typeface="Neue Montreal Bold"/>
              </a:rPr>
              <a:t>Dronee 11 10 fete 30</a:t>
            </a:r>
          </a:p>
          <a:p>
            <a:pPr algn="l">
              <a:lnSpc>
                <a:spcPts val="2363"/>
              </a:lnSpc>
            </a:pPr>
            <a:r>
              <a:rPr lang="en-US" sz="1688" b="1">
                <a:solidFill>
                  <a:srgbClr val="000000"/>
                </a:solidFill>
                <a:latin typeface="Neue Montreal Bold"/>
                <a:ea typeface="Neue Montreal Bold"/>
                <a:cs typeface="Neue Montreal Bold"/>
                <a:sym typeface="Neue Montreal Bold"/>
              </a:rPr>
              <a:t>Tobita 100 1000 fete 29</a:t>
            </a:r>
          </a:p>
          <a:p>
            <a:pPr algn="l">
              <a:lnSpc>
                <a:spcPts val="2363"/>
              </a:lnSpc>
            </a:pPr>
            <a:r>
              <a:rPr lang="en-US" sz="1688" b="1">
                <a:solidFill>
                  <a:srgbClr val="000000"/>
                </a:solidFill>
                <a:latin typeface="Neue Montreal Bold"/>
                <a:ea typeface="Neue Montreal Bold"/>
                <a:cs typeface="Neue Montreal Bold"/>
                <a:sym typeface="Neue Montreal Bold"/>
              </a:rPr>
              <a:t>Domino 123 123 fete 20</a:t>
            </a:r>
          </a:p>
          <a:p>
            <a:pPr algn="l">
              <a:lnSpc>
                <a:spcPts val="2363"/>
              </a:lnSpc>
            </a:pPr>
            <a:r>
              <a:rPr lang="en-US" sz="1688" b="1">
                <a:solidFill>
                  <a:srgbClr val="000000"/>
                </a:solidFill>
                <a:latin typeface="Neue Montreal Bold"/>
                <a:ea typeface="Neue Montreal Bold"/>
                <a:cs typeface="Neue Montreal Bold"/>
                <a:sym typeface="Neue Montreal Bold"/>
              </a:rPr>
              <a:t>Dinoo 120 200 fete 15</a:t>
            </a:r>
          </a:p>
        </p:txBody>
      </p:sp>
      <p:sp>
        <p:nvSpPr>
          <p:cNvPr id="10" name="Freeform 10"/>
          <p:cNvSpPr/>
          <p:nvPr/>
        </p:nvSpPr>
        <p:spPr>
          <a:xfrm flipH="1">
            <a:off x="15622624" y="-2032957"/>
            <a:ext cx="5811471" cy="3385182"/>
          </a:xfrm>
          <a:custGeom>
            <a:avLst/>
            <a:gdLst/>
            <a:ahLst/>
            <a:cxnLst/>
            <a:rect l="l" t="t" r="r" b="b"/>
            <a:pathLst>
              <a:path w="5811471" h="3385182">
                <a:moveTo>
                  <a:pt x="5811471" y="0"/>
                </a:moveTo>
                <a:lnTo>
                  <a:pt x="0" y="0"/>
                </a:lnTo>
                <a:lnTo>
                  <a:pt x="0" y="3385182"/>
                </a:lnTo>
                <a:lnTo>
                  <a:pt x="5811471" y="3385182"/>
                </a:lnTo>
                <a:lnTo>
                  <a:pt x="5811471"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ro-MD"/>
          </a:p>
        </p:txBody>
      </p:sp>
      <p:sp>
        <p:nvSpPr>
          <p:cNvPr id="11" name="TextBox 11"/>
          <p:cNvSpPr txBox="1"/>
          <p:nvPr/>
        </p:nvSpPr>
        <p:spPr>
          <a:xfrm>
            <a:off x="9525831" y="919408"/>
            <a:ext cx="5148565" cy="290499"/>
          </a:xfrm>
          <a:prstGeom prst="rect">
            <a:avLst/>
          </a:prstGeom>
        </p:spPr>
        <p:txBody>
          <a:bodyPr lIns="0" tIns="0" rIns="0" bIns="0" rtlCol="0" anchor="t">
            <a:spAutoFit/>
          </a:bodyPr>
          <a:lstStyle/>
          <a:p>
            <a:pPr algn="l">
              <a:lnSpc>
                <a:spcPts val="2363"/>
              </a:lnSpc>
            </a:pPr>
            <a:r>
              <a:rPr lang="en-US" sz="1688" b="1">
                <a:solidFill>
                  <a:srgbClr val="FFFFFF"/>
                </a:solidFill>
                <a:latin typeface="Neue Montreal Bold"/>
                <a:ea typeface="Neue Montreal Bold"/>
                <a:cs typeface="Neue Montreal Bold"/>
                <a:sym typeface="Neue Montreal Bold"/>
              </a:rPr>
              <a:t>[Denumire] [Preț] [Cantitate] [Categorie] [Codul]</a:t>
            </a:r>
          </a:p>
        </p:txBody>
      </p:sp>
    </p:spTree>
  </p:cSld>
  <p:clrMapOvr>
    <a:masterClrMapping/>
  </p:clrMapOvr>
  <p:transition>
    <p:wip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21723"/>
        </a:solidFill>
        <a:effectLst/>
      </p:bgPr>
    </p:bg>
    <p:spTree>
      <p:nvGrpSpPr>
        <p:cNvPr id="1" name=""/>
        <p:cNvGrpSpPr/>
        <p:nvPr/>
      </p:nvGrpSpPr>
      <p:grpSpPr>
        <a:xfrm>
          <a:off x="0" y="0"/>
          <a:ext cx="0" cy="0"/>
          <a:chOff x="0" y="0"/>
          <a:chExt cx="0" cy="0"/>
        </a:xfrm>
      </p:grpSpPr>
      <p:sp>
        <p:nvSpPr>
          <p:cNvPr id="2" name="Freeform 2"/>
          <p:cNvSpPr/>
          <p:nvPr/>
        </p:nvSpPr>
        <p:spPr>
          <a:xfrm>
            <a:off x="1063990" y="1028700"/>
            <a:ext cx="1276643" cy="968653"/>
          </a:xfrm>
          <a:custGeom>
            <a:avLst/>
            <a:gdLst/>
            <a:ahLst/>
            <a:cxnLst/>
            <a:rect l="l" t="t" r="r" b="b"/>
            <a:pathLst>
              <a:path w="1276643" h="968653">
                <a:moveTo>
                  <a:pt x="0" y="0"/>
                </a:moveTo>
                <a:lnTo>
                  <a:pt x="1276643" y="0"/>
                </a:lnTo>
                <a:lnTo>
                  <a:pt x="1276643" y="968653"/>
                </a:lnTo>
                <a:lnTo>
                  <a:pt x="0" y="96865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ro-MD"/>
          </a:p>
        </p:txBody>
      </p:sp>
      <p:sp>
        <p:nvSpPr>
          <p:cNvPr id="3" name="Freeform 3"/>
          <p:cNvSpPr/>
          <p:nvPr/>
        </p:nvSpPr>
        <p:spPr>
          <a:xfrm>
            <a:off x="-804089" y="8123318"/>
            <a:ext cx="7064034" cy="4114800"/>
          </a:xfrm>
          <a:custGeom>
            <a:avLst/>
            <a:gdLst/>
            <a:ahLst/>
            <a:cxnLst/>
            <a:rect l="l" t="t" r="r" b="b"/>
            <a:pathLst>
              <a:path w="7064034" h="4114800">
                <a:moveTo>
                  <a:pt x="0" y="0"/>
                </a:moveTo>
                <a:lnTo>
                  <a:pt x="7064034" y="0"/>
                </a:lnTo>
                <a:lnTo>
                  <a:pt x="7064034"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ro-MD"/>
          </a:p>
        </p:txBody>
      </p:sp>
      <p:sp>
        <p:nvSpPr>
          <p:cNvPr id="4" name="TextBox 4"/>
          <p:cNvSpPr txBox="1"/>
          <p:nvPr/>
        </p:nvSpPr>
        <p:spPr>
          <a:xfrm>
            <a:off x="1028700" y="3147433"/>
            <a:ext cx="7597568" cy="2715895"/>
          </a:xfrm>
          <a:prstGeom prst="rect">
            <a:avLst/>
          </a:prstGeom>
        </p:spPr>
        <p:txBody>
          <a:bodyPr lIns="0" tIns="0" rIns="0" bIns="0" rtlCol="0" anchor="t">
            <a:spAutoFit/>
          </a:bodyPr>
          <a:lstStyle/>
          <a:p>
            <a:pPr algn="l">
              <a:lnSpc>
                <a:spcPts val="10640"/>
              </a:lnSpc>
            </a:pPr>
            <a:r>
              <a:rPr lang="en-US" sz="9500">
                <a:solidFill>
                  <a:srgbClr val="E7FF2F"/>
                </a:solidFill>
                <a:latin typeface="Gagalin"/>
                <a:ea typeface="Gagalin"/>
                <a:cs typeface="Gagalin"/>
                <a:sym typeface="Gagalin"/>
              </a:rPr>
              <a:t>Conținutul fișierului:</a:t>
            </a:r>
          </a:p>
        </p:txBody>
      </p:sp>
      <p:sp>
        <p:nvSpPr>
          <p:cNvPr id="5" name="TextBox 5"/>
          <p:cNvSpPr txBox="1"/>
          <p:nvPr/>
        </p:nvSpPr>
        <p:spPr>
          <a:xfrm>
            <a:off x="9525831" y="366047"/>
            <a:ext cx="4460096" cy="449142"/>
          </a:xfrm>
          <a:prstGeom prst="rect">
            <a:avLst/>
          </a:prstGeom>
        </p:spPr>
        <p:txBody>
          <a:bodyPr lIns="0" tIns="0" rIns="0" bIns="0" rtlCol="0" anchor="t">
            <a:spAutoFit/>
          </a:bodyPr>
          <a:lstStyle/>
          <a:p>
            <a:pPr algn="l">
              <a:lnSpc>
                <a:spcPts val="3498"/>
              </a:lnSpc>
            </a:pPr>
            <a:r>
              <a:rPr lang="en-US" sz="3123" b="1">
                <a:solidFill>
                  <a:srgbClr val="E7FF2F"/>
                </a:solidFill>
                <a:latin typeface="Neue Montreal Medium"/>
                <a:ea typeface="Neue Montreal Medium"/>
                <a:cs typeface="Neue Montreal Medium"/>
                <a:sym typeface="Neue Montreal Medium"/>
              </a:rPr>
              <a:t>Manufacturer.txt</a:t>
            </a:r>
          </a:p>
        </p:txBody>
      </p:sp>
      <p:grpSp>
        <p:nvGrpSpPr>
          <p:cNvPr id="6" name="Group 6"/>
          <p:cNvGrpSpPr/>
          <p:nvPr/>
        </p:nvGrpSpPr>
        <p:grpSpPr>
          <a:xfrm>
            <a:off x="9144000" y="1352225"/>
            <a:ext cx="5530396" cy="9093132"/>
            <a:chOff x="0" y="0"/>
            <a:chExt cx="1495511" cy="2458933"/>
          </a:xfrm>
        </p:grpSpPr>
        <p:sp>
          <p:nvSpPr>
            <p:cNvPr id="7" name="Freeform 7"/>
            <p:cNvSpPr/>
            <p:nvPr/>
          </p:nvSpPr>
          <p:spPr>
            <a:xfrm>
              <a:off x="0" y="0"/>
              <a:ext cx="1495511" cy="2458933"/>
            </a:xfrm>
            <a:custGeom>
              <a:avLst/>
              <a:gdLst/>
              <a:ahLst/>
              <a:cxnLst/>
              <a:rect l="l" t="t" r="r" b="b"/>
              <a:pathLst>
                <a:path w="1495511" h="2458933">
                  <a:moveTo>
                    <a:pt x="71394" y="0"/>
                  </a:moveTo>
                  <a:lnTo>
                    <a:pt x="1424116" y="0"/>
                  </a:lnTo>
                  <a:cubicBezTo>
                    <a:pt x="1443051" y="0"/>
                    <a:pt x="1461211" y="7522"/>
                    <a:pt x="1474600" y="20911"/>
                  </a:cubicBezTo>
                  <a:cubicBezTo>
                    <a:pt x="1487989" y="34300"/>
                    <a:pt x="1495511" y="52459"/>
                    <a:pt x="1495511" y="71394"/>
                  </a:cubicBezTo>
                  <a:lnTo>
                    <a:pt x="1495511" y="2387539"/>
                  </a:lnTo>
                  <a:cubicBezTo>
                    <a:pt x="1495511" y="2406474"/>
                    <a:pt x="1487989" y="2424633"/>
                    <a:pt x="1474600" y="2438022"/>
                  </a:cubicBezTo>
                  <a:cubicBezTo>
                    <a:pt x="1461211" y="2451411"/>
                    <a:pt x="1443051" y="2458933"/>
                    <a:pt x="1424116" y="2458933"/>
                  </a:cubicBezTo>
                  <a:lnTo>
                    <a:pt x="71394" y="2458933"/>
                  </a:lnTo>
                  <a:cubicBezTo>
                    <a:pt x="52459" y="2458933"/>
                    <a:pt x="34300" y="2451411"/>
                    <a:pt x="20911" y="2438022"/>
                  </a:cubicBezTo>
                  <a:cubicBezTo>
                    <a:pt x="7522" y="2424633"/>
                    <a:pt x="0" y="2406474"/>
                    <a:pt x="0" y="2387539"/>
                  </a:cubicBezTo>
                  <a:lnTo>
                    <a:pt x="0" y="71394"/>
                  </a:lnTo>
                  <a:cubicBezTo>
                    <a:pt x="0" y="52459"/>
                    <a:pt x="7522" y="34300"/>
                    <a:pt x="20911" y="20911"/>
                  </a:cubicBezTo>
                  <a:cubicBezTo>
                    <a:pt x="34300" y="7522"/>
                    <a:pt x="52459" y="0"/>
                    <a:pt x="71394" y="0"/>
                  </a:cubicBezTo>
                  <a:close/>
                </a:path>
              </a:pathLst>
            </a:custGeom>
            <a:solidFill>
              <a:srgbClr val="FFFFFF"/>
            </a:solidFill>
          </p:spPr>
          <p:txBody>
            <a:bodyPr/>
            <a:lstStyle/>
            <a:p>
              <a:endParaRPr lang="ro-MD"/>
            </a:p>
          </p:txBody>
        </p:sp>
        <p:sp>
          <p:nvSpPr>
            <p:cNvPr id="8" name="TextBox 8"/>
            <p:cNvSpPr txBox="1"/>
            <p:nvPr/>
          </p:nvSpPr>
          <p:spPr>
            <a:xfrm>
              <a:off x="0" y="19050"/>
              <a:ext cx="1495511" cy="2439883"/>
            </a:xfrm>
            <a:prstGeom prst="rect">
              <a:avLst/>
            </a:prstGeom>
          </p:spPr>
          <p:txBody>
            <a:bodyPr lIns="50800" tIns="50800" rIns="50800" bIns="50800" rtlCol="0" anchor="ctr"/>
            <a:lstStyle/>
            <a:p>
              <a:pPr algn="ctr">
                <a:lnSpc>
                  <a:spcPts val="2598"/>
                </a:lnSpc>
              </a:pPr>
              <a:endParaRPr/>
            </a:p>
          </p:txBody>
        </p:sp>
      </p:grpSp>
      <p:sp>
        <p:nvSpPr>
          <p:cNvPr id="9" name="TextBox 9"/>
          <p:cNvSpPr txBox="1"/>
          <p:nvPr/>
        </p:nvSpPr>
        <p:spPr>
          <a:xfrm>
            <a:off x="9803495" y="1417542"/>
            <a:ext cx="3904768" cy="8853474"/>
          </a:xfrm>
          <a:prstGeom prst="rect">
            <a:avLst/>
          </a:prstGeom>
        </p:spPr>
        <p:txBody>
          <a:bodyPr lIns="0" tIns="0" rIns="0" bIns="0" rtlCol="0" anchor="t">
            <a:spAutoFit/>
          </a:bodyPr>
          <a:lstStyle/>
          <a:p>
            <a:pPr algn="l">
              <a:lnSpc>
                <a:spcPts val="2363"/>
              </a:lnSpc>
            </a:pPr>
            <a:r>
              <a:rPr lang="en-US" sz="1688" b="1">
                <a:solidFill>
                  <a:srgbClr val="000000"/>
                </a:solidFill>
                <a:latin typeface="Neue Montreal Bold"/>
                <a:ea typeface="Neue Montreal Bold"/>
                <a:cs typeface="Neue Montreal Bold"/>
                <a:sym typeface="Neue Montreal Bold"/>
              </a:rPr>
              <a:t>1 Nefis Moldova</a:t>
            </a:r>
          </a:p>
          <a:p>
            <a:pPr algn="l">
              <a:lnSpc>
                <a:spcPts val="2363"/>
              </a:lnSpc>
            </a:pPr>
            <a:r>
              <a:rPr lang="en-US" sz="1688" b="1">
                <a:solidFill>
                  <a:srgbClr val="000000"/>
                </a:solidFill>
                <a:latin typeface="Neue Montreal Bold"/>
                <a:ea typeface="Neue Montreal Bold"/>
                <a:cs typeface="Neue Montreal Bold"/>
                <a:sym typeface="Neue Montreal Bold"/>
              </a:rPr>
              <a:t>2 Milka Germania</a:t>
            </a:r>
          </a:p>
          <a:p>
            <a:pPr algn="l">
              <a:lnSpc>
                <a:spcPts val="2363"/>
              </a:lnSpc>
            </a:pPr>
            <a:r>
              <a:rPr lang="en-US" sz="1688" b="1">
                <a:solidFill>
                  <a:srgbClr val="000000"/>
                </a:solidFill>
                <a:latin typeface="Neue Montreal Bold"/>
                <a:ea typeface="Neue Montreal Bold"/>
                <a:cs typeface="Neue Montreal Bold"/>
                <a:sym typeface="Neue Montreal Bold"/>
              </a:rPr>
              <a:t>3 Kinder Italia</a:t>
            </a:r>
          </a:p>
          <a:p>
            <a:pPr algn="l">
              <a:lnSpc>
                <a:spcPts val="2363"/>
              </a:lnSpc>
            </a:pPr>
            <a:r>
              <a:rPr lang="en-US" sz="1688" b="1">
                <a:solidFill>
                  <a:srgbClr val="000000"/>
                </a:solidFill>
                <a:latin typeface="Neue Montreal Bold"/>
                <a:ea typeface="Neue Montreal Bold"/>
                <a:cs typeface="Neue Montreal Bold"/>
                <a:sym typeface="Neue Montreal Bold"/>
              </a:rPr>
              <a:t>4 Ferrero Italia</a:t>
            </a:r>
          </a:p>
          <a:p>
            <a:pPr algn="l">
              <a:lnSpc>
                <a:spcPts val="2363"/>
              </a:lnSpc>
            </a:pPr>
            <a:r>
              <a:rPr lang="en-US" sz="1688" b="1">
                <a:solidFill>
                  <a:srgbClr val="000000"/>
                </a:solidFill>
                <a:latin typeface="Neue Montreal Bold"/>
                <a:ea typeface="Neue Montreal Bold"/>
                <a:cs typeface="Neue Montreal Bold"/>
                <a:sym typeface="Neue Montreal Bold"/>
              </a:rPr>
              <a:t>5 Nestle Elvetia</a:t>
            </a:r>
          </a:p>
          <a:p>
            <a:pPr algn="l">
              <a:lnSpc>
                <a:spcPts val="2363"/>
              </a:lnSpc>
            </a:pPr>
            <a:r>
              <a:rPr lang="en-US" sz="1688" b="1">
                <a:solidFill>
                  <a:srgbClr val="000000"/>
                </a:solidFill>
                <a:latin typeface="Neue Montreal Bold"/>
                <a:ea typeface="Neue Montreal Bold"/>
                <a:cs typeface="Neue Montreal Bold"/>
                <a:sym typeface="Neue Montreal Bold"/>
              </a:rPr>
              <a:t>6 Lindt Elvetia</a:t>
            </a:r>
          </a:p>
          <a:p>
            <a:pPr algn="l">
              <a:lnSpc>
                <a:spcPts val="2363"/>
              </a:lnSpc>
            </a:pPr>
            <a:r>
              <a:rPr lang="en-US" sz="1688" b="1">
                <a:solidFill>
                  <a:srgbClr val="000000"/>
                </a:solidFill>
                <a:latin typeface="Neue Montreal Bold"/>
                <a:ea typeface="Neue Montreal Bold"/>
                <a:cs typeface="Neue Montreal Bold"/>
                <a:sym typeface="Neue Montreal Bold"/>
              </a:rPr>
              <a:t>7 Mars SUA</a:t>
            </a:r>
          </a:p>
          <a:p>
            <a:pPr algn="l">
              <a:lnSpc>
                <a:spcPts val="2363"/>
              </a:lnSpc>
            </a:pPr>
            <a:r>
              <a:rPr lang="en-US" sz="1688" b="1">
                <a:solidFill>
                  <a:srgbClr val="000000"/>
                </a:solidFill>
                <a:latin typeface="Neue Montreal Bold"/>
                <a:ea typeface="Neue Montreal Bold"/>
                <a:cs typeface="Neue Montreal Bold"/>
                <a:sym typeface="Neue Montreal Bold"/>
              </a:rPr>
              <a:t>8 Snickers SUA</a:t>
            </a:r>
          </a:p>
          <a:p>
            <a:pPr algn="l">
              <a:lnSpc>
                <a:spcPts val="2363"/>
              </a:lnSpc>
            </a:pPr>
            <a:r>
              <a:rPr lang="en-US" sz="1688" b="1">
                <a:solidFill>
                  <a:srgbClr val="000000"/>
                </a:solidFill>
                <a:latin typeface="Neue Montreal Bold"/>
                <a:ea typeface="Neue Montreal Bold"/>
                <a:cs typeface="Neue Montreal Bold"/>
                <a:sym typeface="Neue Montreal Bold"/>
              </a:rPr>
              <a:t>9 Toffifee Germania</a:t>
            </a:r>
          </a:p>
          <a:p>
            <a:pPr algn="l">
              <a:lnSpc>
                <a:spcPts val="2363"/>
              </a:lnSpc>
            </a:pPr>
            <a:r>
              <a:rPr lang="en-US" sz="1688" b="1">
                <a:solidFill>
                  <a:srgbClr val="000000"/>
                </a:solidFill>
                <a:latin typeface="Neue Montreal Bold"/>
                <a:ea typeface="Neue Montreal Bold"/>
                <a:cs typeface="Neue Montreal Bold"/>
                <a:sym typeface="Neue Montreal Bold"/>
              </a:rPr>
              <a:t>10 Raffaello Italia</a:t>
            </a:r>
          </a:p>
          <a:p>
            <a:pPr algn="l">
              <a:lnSpc>
                <a:spcPts val="2363"/>
              </a:lnSpc>
            </a:pPr>
            <a:r>
              <a:rPr lang="en-US" sz="1688" b="1">
                <a:solidFill>
                  <a:srgbClr val="000000"/>
                </a:solidFill>
                <a:latin typeface="Neue Montreal Bold"/>
                <a:ea typeface="Neue Montreal Bold"/>
                <a:cs typeface="Neue Montreal Bold"/>
                <a:sym typeface="Neue Montreal Bold"/>
              </a:rPr>
              <a:t>11 Ritter Germania</a:t>
            </a:r>
          </a:p>
          <a:p>
            <a:pPr algn="l">
              <a:lnSpc>
                <a:spcPts val="2363"/>
              </a:lnSpc>
            </a:pPr>
            <a:r>
              <a:rPr lang="en-US" sz="1688" b="1">
                <a:solidFill>
                  <a:srgbClr val="000000"/>
                </a:solidFill>
                <a:latin typeface="Neue Montreal Bold"/>
                <a:ea typeface="Neue Montreal Bold"/>
                <a:cs typeface="Neue Montreal Bold"/>
                <a:sym typeface="Neue Montreal Bold"/>
              </a:rPr>
              <a:t>12 Heidi Romania</a:t>
            </a:r>
          </a:p>
          <a:p>
            <a:pPr algn="l">
              <a:lnSpc>
                <a:spcPts val="2363"/>
              </a:lnSpc>
            </a:pPr>
            <a:r>
              <a:rPr lang="en-US" sz="1688" b="1">
                <a:solidFill>
                  <a:srgbClr val="000000"/>
                </a:solidFill>
                <a:latin typeface="Neue Montreal Bold"/>
                <a:ea typeface="Neue Montreal Bold"/>
                <a:cs typeface="Neue Montreal Bold"/>
                <a:sym typeface="Neue Montreal Bold"/>
              </a:rPr>
              <a:t>13 Magura Romania</a:t>
            </a:r>
          </a:p>
          <a:p>
            <a:pPr algn="l">
              <a:lnSpc>
                <a:spcPts val="2363"/>
              </a:lnSpc>
            </a:pPr>
            <a:r>
              <a:rPr lang="en-US" sz="1688" b="1">
                <a:solidFill>
                  <a:srgbClr val="000000"/>
                </a:solidFill>
                <a:latin typeface="Neue Montreal Bold"/>
                <a:ea typeface="Neue Montreal Bold"/>
                <a:cs typeface="Neue Montreal Bold"/>
                <a:sym typeface="Neue Montreal Bold"/>
              </a:rPr>
              <a:t>14 Joe Romania</a:t>
            </a:r>
          </a:p>
          <a:p>
            <a:pPr algn="l">
              <a:lnSpc>
                <a:spcPts val="2363"/>
              </a:lnSpc>
            </a:pPr>
            <a:r>
              <a:rPr lang="en-US" sz="1688" b="1">
                <a:solidFill>
                  <a:srgbClr val="000000"/>
                </a:solidFill>
                <a:latin typeface="Neue Montreal Bold"/>
                <a:ea typeface="Neue Montreal Bold"/>
                <a:cs typeface="Neue Montreal Bold"/>
                <a:sym typeface="Neue Montreal Bold"/>
              </a:rPr>
              <a:t>15 Poiana Romania</a:t>
            </a:r>
          </a:p>
          <a:p>
            <a:pPr algn="l">
              <a:lnSpc>
                <a:spcPts val="2363"/>
              </a:lnSpc>
            </a:pPr>
            <a:r>
              <a:rPr lang="en-US" sz="1688" b="1">
                <a:solidFill>
                  <a:srgbClr val="000000"/>
                </a:solidFill>
                <a:latin typeface="Neue Montreal Bold"/>
                <a:ea typeface="Neue Montreal Bold"/>
                <a:cs typeface="Neue Montreal Bold"/>
                <a:sym typeface="Neue Montreal Bold"/>
              </a:rPr>
              <a:t>16 Barni Rusia</a:t>
            </a:r>
          </a:p>
          <a:p>
            <a:pPr algn="l">
              <a:lnSpc>
                <a:spcPts val="2363"/>
              </a:lnSpc>
            </a:pPr>
            <a:r>
              <a:rPr lang="en-US" sz="1688" b="1">
                <a:solidFill>
                  <a:srgbClr val="000000"/>
                </a:solidFill>
                <a:latin typeface="Neue Montreal Bold"/>
                <a:ea typeface="Neue Montreal Bold"/>
                <a:cs typeface="Neue Montreal Bold"/>
                <a:sym typeface="Neue Montreal Bold"/>
              </a:rPr>
              <a:t>17 Alfers Romania</a:t>
            </a:r>
          </a:p>
          <a:p>
            <a:pPr algn="l">
              <a:lnSpc>
                <a:spcPts val="2363"/>
              </a:lnSpc>
            </a:pPr>
            <a:r>
              <a:rPr lang="en-US" sz="1688" b="1">
                <a:solidFill>
                  <a:srgbClr val="000000"/>
                </a:solidFill>
                <a:latin typeface="Neue Montreal Bold"/>
                <a:ea typeface="Neue Montreal Bold"/>
                <a:cs typeface="Neue Montreal Bold"/>
                <a:sym typeface="Neue Montreal Bold"/>
              </a:rPr>
              <a:t>18 Primola Romania</a:t>
            </a:r>
          </a:p>
          <a:p>
            <a:pPr algn="l">
              <a:lnSpc>
                <a:spcPts val="2363"/>
              </a:lnSpc>
            </a:pPr>
            <a:r>
              <a:rPr lang="en-US" sz="1688" b="1">
                <a:solidFill>
                  <a:srgbClr val="000000"/>
                </a:solidFill>
                <a:latin typeface="Neue Montreal Bold"/>
                <a:ea typeface="Neue Montreal Bold"/>
                <a:cs typeface="Neue Montreal Bold"/>
                <a:sym typeface="Neue Montreal Bold"/>
              </a:rPr>
              <a:t>19 Kandia Romania</a:t>
            </a:r>
          </a:p>
          <a:p>
            <a:pPr algn="l">
              <a:lnSpc>
                <a:spcPts val="2363"/>
              </a:lnSpc>
            </a:pPr>
            <a:r>
              <a:rPr lang="en-US" sz="1688" b="1">
                <a:solidFill>
                  <a:srgbClr val="000000"/>
                </a:solidFill>
                <a:latin typeface="Neue Montreal Bold"/>
                <a:ea typeface="Neue Montreal Bold"/>
                <a:cs typeface="Neue Montreal Bold"/>
                <a:sym typeface="Neue Montreal Bold"/>
              </a:rPr>
              <a:t>20 Twix SUA</a:t>
            </a:r>
          </a:p>
          <a:p>
            <a:pPr algn="l">
              <a:lnSpc>
                <a:spcPts val="2363"/>
              </a:lnSpc>
            </a:pPr>
            <a:r>
              <a:rPr lang="en-US" sz="1688" b="1">
                <a:solidFill>
                  <a:srgbClr val="000000"/>
                </a:solidFill>
                <a:latin typeface="Neue Montreal Bold"/>
                <a:ea typeface="Neue Montreal Bold"/>
                <a:cs typeface="Neue Montreal Bold"/>
                <a:sym typeface="Neue Montreal Bold"/>
              </a:rPr>
              <a:t>21 Mentos Olanda</a:t>
            </a:r>
          </a:p>
          <a:p>
            <a:pPr algn="l">
              <a:lnSpc>
                <a:spcPts val="2363"/>
              </a:lnSpc>
            </a:pPr>
            <a:r>
              <a:rPr lang="en-US" sz="1688" b="1">
                <a:solidFill>
                  <a:srgbClr val="000000"/>
                </a:solidFill>
                <a:latin typeface="Neue Montreal Bold"/>
                <a:ea typeface="Neue Montreal Bold"/>
                <a:cs typeface="Neue Montreal Bold"/>
                <a:sym typeface="Neue Montreal Bold"/>
              </a:rPr>
              <a:t>22 Realme Armenia</a:t>
            </a:r>
          </a:p>
          <a:p>
            <a:pPr algn="l">
              <a:lnSpc>
                <a:spcPts val="2363"/>
              </a:lnSpc>
            </a:pPr>
            <a:r>
              <a:rPr lang="en-US" sz="1688" b="1">
                <a:solidFill>
                  <a:srgbClr val="000000"/>
                </a:solidFill>
                <a:latin typeface="Neue Montreal Bold"/>
                <a:ea typeface="Neue Montreal Bold"/>
                <a:cs typeface="Neue Montreal Bold"/>
                <a:sym typeface="Neue Montreal Bold"/>
              </a:rPr>
              <a:t>23 Skittles SUA</a:t>
            </a:r>
          </a:p>
          <a:p>
            <a:pPr algn="l">
              <a:lnSpc>
                <a:spcPts val="2363"/>
              </a:lnSpc>
            </a:pPr>
            <a:r>
              <a:rPr lang="en-US" sz="1688" b="1">
                <a:solidFill>
                  <a:srgbClr val="000000"/>
                </a:solidFill>
                <a:latin typeface="Neue Montreal Bold"/>
                <a:ea typeface="Neue Montreal Bold"/>
                <a:cs typeface="Neue Montreal Bold"/>
                <a:sym typeface="Neue Montreal Bold"/>
              </a:rPr>
              <a:t>24 Bounty SUA</a:t>
            </a:r>
          </a:p>
          <a:p>
            <a:pPr algn="l">
              <a:lnSpc>
                <a:spcPts val="2363"/>
              </a:lnSpc>
            </a:pPr>
            <a:r>
              <a:rPr lang="en-US" sz="1688" b="1">
                <a:solidFill>
                  <a:srgbClr val="000000"/>
                </a:solidFill>
                <a:latin typeface="Neue Montreal Bold"/>
                <a:ea typeface="Neue Montreal Bold"/>
                <a:cs typeface="Neue Montreal Bold"/>
                <a:sym typeface="Neue Montreal Bold"/>
              </a:rPr>
              <a:t>25 Alpenliebe Italia</a:t>
            </a:r>
          </a:p>
          <a:p>
            <a:pPr algn="l">
              <a:lnSpc>
                <a:spcPts val="2363"/>
              </a:lnSpc>
            </a:pPr>
            <a:r>
              <a:rPr lang="en-US" sz="1688" b="1">
                <a:solidFill>
                  <a:srgbClr val="000000"/>
                </a:solidFill>
                <a:latin typeface="Neue Montreal Bold"/>
                <a:ea typeface="Neue Montreal Bold"/>
                <a:cs typeface="Neue Montreal Bold"/>
                <a:sym typeface="Neue Montreal Bold"/>
              </a:rPr>
              <a:t>26 ChupaChups Spania</a:t>
            </a:r>
          </a:p>
          <a:p>
            <a:pPr algn="l">
              <a:lnSpc>
                <a:spcPts val="2363"/>
              </a:lnSpc>
            </a:pPr>
            <a:r>
              <a:rPr lang="en-US" sz="1688" b="1">
                <a:solidFill>
                  <a:srgbClr val="000000"/>
                </a:solidFill>
                <a:latin typeface="Neue Montreal Bold"/>
                <a:ea typeface="Neue Montreal Bold"/>
                <a:cs typeface="Neue Montreal Bold"/>
                <a:sym typeface="Neue Montreal Bold"/>
              </a:rPr>
              <a:t>27 Haribo Germania</a:t>
            </a:r>
          </a:p>
          <a:p>
            <a:pPr algn="l">
              <a:lnSpc>
                <a:spcPts val="2363"/>
              </a:lnSpc>
            </a:pPr>
            <a:r>
              <a:rPr lang="en-US" sz="1688" b="1">
                <a:solidFill>
                  <a:srgbClr val="000000"/>
                </a:solidFill>
                <a:latin typeface="Neue Montreal Bold"/>
                <a:ea typeface="Neue Montreal Bold"/>
                <a:cs typeface="Neue Montreal Bold"/>
                <a:sym typeface="Neue Montreal Bold"/>
              </a:rPr>
              <a:t>28 Trolli Germania</a:t>
            </a:r>
          </a:p>
          <a:p>
            <a:pPr algn="l">
              <a:lnSpc>
                <a:spcPts val="2363"/>
              </a:lnSpc>
            </a:pPr>
            <a:r>
              <a:rPr lang="en-US" sz="1688" b="1">
                <a:solidFill>
                  <a:srgbClr val="000000"/>
                </a:solidFill>
                <a:latin typeface="Neue Montreal Bold"/>
                <a:ea typeface="Neue Montreal Bold"/>
                <a:cs typeface="Neue Montreal Bold"/>
                <a:sym typeface="Neue Montreal Bold"/>
              </a:rPr>
              <a:t>29 Goplana Polonia</a:t>
            </a:r>
          </a:p>
          <a:p>
            <a:pPr algn="l">
              <a:lnSpc>
                <a:spcPts val="2363"/>
              </a:lnSpc>
            </a:pPr>
            <a:r>
              <a:rPr lang="en-US" sz="1688" b="1">
                <a:solidFill>
                  <a:srgbClr val="000000"/>
                </a:solidFill>
                <a:latin typeface="Neue Montreal Bold"/>
                <a:ea typeface="Neue Montreal Bold"/>
                <a:cs typeface="Neue Montreal Bold"/>
                <a:sym typeface="Neue Montreal Bold"/>
              </a:rPr>
              <a:t>30 Rosheen Moldova</a:t>
            </a:r>
          </a:p>
        </p:txBody>
      </p:sp>
      <p:sp>
        <p:nvSpPr>
          <p:cNvPr id="10" name="Freeform 10"/>
          <p:cNvSpPr/>
          <p:nvPr/>
        </p:nvSpPr>
        <p:spPr>
          <a:xfrm flipH="1">
            <a:off x="15622624" y="-2032957"/>
            <a:ext cx="5811471" cy="3385182"/>
          </a:xfrm>
          <a:custGeom>
            <a:avLst/>
            <a:gdLst/>
            <a:ahLst/>
            <a:cxnLst/>
            <a:rect l="l" t="t" r="r" b="b"/>
            <a:pathLst>
              <a:path w="5811471" h="3385182">
                <a:moveTo>
                  <a:pt x="5811471" y="0"/>
                </a:moveTo>
                <a:lnTo>
                  <a:pt x="0" y="0"/>
                </a:lnTo>
                <a:lnTo>
                  <a:pt x="0" y="3385182"/>
                </a:lnTo>
                <a:lnTo>
                  <a:pt x="5811471" y="3385182"/>
                </a:lnTo>
                <a:lnTo>
                  <a:pt x="5811471"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ro-MD"/>
          </a:p>
        </p:txBody>
      </p:sp>
      <p:sp>
        <p:nvSpPr>
          <p:cNvPr id="11" name="TextBox 11"/>
          <p:cNvSpPr txBox="1"/>
          <p:nvPr/>
        </p:nvSpPr>
        <p:spPr>
          <a:xfrm>
            <a:off x="9525831" y="919408"/>
            <a:ext cx="5148565" cy="290499"/>
          </a:xfrm>
          <a:prstGeom prst="rect">
            <a:avLst/>
          </a:prstGeom>
        </p:spPr>
        <p:txBody>
          <a:bodyPr lIns="0" tIns="0" rIns="0" bIns="0" rtlCol="0" anchor="t">
            <a:spAutoFit/>
          </a:bodyPr>
          <a:lstStyle/>
          <a:p>
            <a:pPr algn="l">
              <a:lnSpc>
                <a:spcPts val="2363"/>
              </a:lnSpc>
            </a:pPr>
            <a:r>
              <a:rPr lang="en-US" sz="1688" b="1">
                <a:solidFill>
                  <a:srgbClr val="FFFFFF"/>
                </a:solidFill>
                <a:latin typeface="Neue Montreal Bold"/>
                <a:ea typeface="Neue Montreal Bold"/>
                <a:cs typeface="Neue Montreal Bold"/>
                <a:sym typeface="Neue Montreal Bold"/>
              </a:rPr>
              <a:t>[Codul] [Denumire] [Țara]</a:t>
            </a:r>
          </a:p>
        </p:txBody>
      </p:sp>
    </p:spTree>
  </p:cSld>
  <p:clrMapOvr>
    <a:masterClrMapping/>
  </p:clrMapOvr>
  <p:transition>
    <p:wip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21723"/>
        </a:solidFill>
        <a:effectLst/>
      </p:bgPr>
    </p:bg>
    <p:spTree>
      <p:nvGrpSpPr>
        <p:cNvPr id="1" name=""/>
        <p:cNvGrpSpPr/>
        <p:nvPr/>
      </p:nvGrpSpPr>
      <p:grpSpPr>
        <a:xfrm>
          <a:off x="0" y="0"/>
          <a:ext cx="0" cy="0"/>
          <a:chOff x="0" y="0"/>
          <a:chExt cx="0" cy="0"/>
        </a:xfrm>
      </p:grpSpPr>
      <p:sp>
        <p:nvSpPr>
          <p:cNvPr id="2" name="Freeform 2"/>
          <p:cNvSpPr/>
          <p:nvPr/>
        </p:nvSpPr>
        <p:spPr>
          <a:xfrm>
            <a:off x="1063990" y="1028700"/>
            <a:ext cx="1276643" cy="968653"/>
          </a:xfrm>
          <a:custGeom>
            <a:avLst/>
            <a:gdLst/>
            <a:ahLst/>
            <a:cxnLst/>
            <a:rect l="l" t="t" r="r" b="b"/>
            <a:pathLst>
              <a:path w="1276643" h="968653">
                <a:moveTo>
                  <a:pt x="0" y="0"/>
                </a:moveTo>
                <a:lnTo>
                  <a:pt x="1276643" y="0"/>
                </a:lnTo>
                <a:lnTo>
                  <a:pt x="1276643" y="968653"/>
                </a:lnTo>
                <a:lnTo>
                  <a:pt x="0" y="96865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ro-MD"/>
          </a:p>
        </p:txBody>
      </p:sp>
      <p:sp>
        <p:nvSpPr>
          <p:cNvPr id="3" name="Freeform 3"/>
          <p:cNvSpPr/>
          <p:nvPr/>
        </p:nvSpPr>
        <p:spPr>
          <a:xfrm flipH="1">
            <a:off x="13215984" y="769952"/>
            <a:ext cx="6359560" cy="2814105"/>
          </a:xfrm>
          <a:custGeom>
            <a:avLst/>
            <a:gdLst/>
            <a:ahLst/>
            <a:cxnLst/>
            <a:rect l="l" t="t" r="r" b="b"/>
            <a:pathLst>
              <a:path w="6359560" h="2814105">
                <a:moveTo>
                  <a:pt x="6359560" y="0"/>
                </a:moveTo>
                <a:lnTo>
                  <a:pt x="0" y="0"/>
                </a:lnTo>
                <a:lnTo>
                  <a:pt x="0" y="2814105"/>
                </a:lnTo>
                <a:lnTo>
                  <a:pt x="6359560" y="2814105"/>
                </a:lnTo>
                <a:lnTo>
                  <a:pt x="635956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ro-MD"/>
          </a:p>
        </p:txBody>
      </p:sp>
      <p:grpSp>
        <p:nvGrpSpPr>
          <p:cNvPr id="4" name="Group 4"/>
          <p:cNvGrpSpPr/>
          <p:nvPr/>
        </p:nvGrpSpPr>
        <p:grpSpPr>
          <a:xfrm>
            <a:off x="1063990" y="4117682"/>
            <a:ext cx="2791672" cy="1621286"/>
            <a:chOff x="0" y="0"/>
            <a:chExt cx="754914" cy="438423"/>
          </a:xfrm>
        </p:grpSpPr>
        <p:sp>
          <p:nvSpPr>
            <p:cNvPr id="5" name="Freeform 5"/>
            <p:cNvSpPr/>
            <p:nvPr/>
          </p:nvSpPr>
          <p:spPr>
            <a:xfrm>
              <a:off x="0" y="0"/>
              <a:ext cx="754914" cy="438423"/>
            </a:xfrm>
            <a:custGeom>
              <a:avLst/>
              <a:gdLst/>
              <a:ahLst/>
              <a:cxnLst/>
              <a:rect l="l" t="t" r="r" b="b"/>
              <a:pathLst>
                <a:path w="754914" h="438423">
                  <a:moveTo>
                    <a:pt x="141434" y="0"/>
                  </a:moveTo>
                  <a:lnTo>
                    <a:pt x="613480" y="0"/>
                  </a:lnTo>
                  <a:cubicBezTo>
                    <a:pt x="650991" y="0"/>
                    <a:pt x="686965" y="14901"/>
                    <a:pt x="713489" y="41425"/>
                  </a:cubicBezTo>
                  <a:cubicBezTo>
                    <a:pt x="740013" y="67949"/>
                    <a:pt x="754914" y="103924"/>
                    <a:pt x="754914" y="141434"/>
                  </a:cubicBezTo>
                  <a:lnTo>
                    <a:pt x="754914" y="296988"/>
                  </a:lnTo>
                  <a:cubicBezTo>
                    <a:pt x="754914" y="334499"/>
                    <a:pt x="740013" y="370473"/>
                    <a:pt x="713489" y="396997"/>
                  </a:cubicBezTo>
                  <a:cubicBezTo>
                    <a:pt x="686965" y="423521"/>
                    <a:pt x="650991" y="438423"/>
                    <a:pt x="613480" y="438423"/>
                  </a:cubicBezTo>
                  <a:lnTo>
                    <a:pt x="141434" y="438423"/>
                  </a:lnTo>
                  <a:cubicBezTo>
                    <a:pt x="103924" y="438423"/>
                    <a:pt x="67949" y="423521"/>
                    <a:pt x="41425" y="396997"/>
                  </a:cubicBezTo>
                  <a:cubicBezTo>
                    <a:pt x="14901" y="370473"/>
                    <a:pt x="0" y="334499"/>
                    <a:pt x="0" y="296988"/>
                  </a:cubicBezTo>
                  <a:lnTo>
                    <a:pt x="0" y="141434"/>
                  </a:lnTo>
                  <a:cubicBezTo>
                    <a:pt x="0" y="103924"/>
                    <a:pt x="14901" y="67949"/>
                    <a:pt x="41425" y="41425"/>
                  </a:cubicBezTo>
                  <a:cubicBezTo>
                    <a:pt x="67949" y="14901"/>
                    <a:pt x="103924" y="0"/>
                    <a:pt x="141434" y="0"/>
                  </a:cubicBezTo>
                  <a:close/>
                </a:path>
              </a:pathLst>
            </a:custGeom>
            <a:solidFill>
              <a:srgbClr val="FFFFFF"/>
            </a:solidFill>
          </p:spPr>
          <p:txBody>
            <a:bodyPr/>
            <a:lstStyle/>
            <a:p>
              <a:endParaRPr lang="ro-MD"/>
            </a:p>
          </p:txBody>
        </p:sp>
        <p:sp>
          <p:nvSpPr>
            <p:cNvPr id="6" name="TextBox 6"/>
            <p:cNvSpPr txBox="1"/>
            <p:nvPr/>
          </p:nvSpPr>
          <p:spPr>
            <a:xfrm>
              <a:off x="0" y="19050"/>
              <a:ext cx="754914" cy="419373"/>
            </a:xfrm>
            <a:prstGeom prst="rect">
              <a:avLst/>
            </a:prstGeom>
          </p:spPr>
          <p:txBody>
            <a:bodyPr lIns="50800" tIns="50800" rIns="50800" bIns="50800" rtlCol="0" anchor="ctr"/>
            <a:lstStyle/>
            <a:p>
              <a:pPr algn="ctr">
                <a:lnSpc>
                  <a:spcPts val="2598"/>
                </a:lnSpc>
              </a:pPr>
              <a:endParaRPr/>
            </a:p>
          </p:txBody>
        </p:sp>
      </p:grpSp>
      <p:sp>
        <p:nvSpPr>
          <p:cNvPr id="7" name="TextBox 7"/>
          <p:cNvSpPr txBox="1"/>
          <p:nvPr/>
        </p:nvSpPr>
        <p:spPr>
          <a:xfrm>
            <a:off x="1063990" y="2404420"/>
            <a:ext cx="9934802" cy="1372870"/>
          </a:xfrm>
          <a:prstGeom prst="rect">
            <a:avLst/>
          </a:prstGeom>
        </p:spPr>
        <p:txBody>
          <a:bodyPr lIns="0" tIns="0" rIns="0" bIns="0" rtlCol="0" anchor="t">
            <a:spAutoFit/>
          </a:bodyPr>
          <a:lstStyle/>
          <a:p>
            <a:pPr algn="l">
              <a:lnSpc>
                <a:spcPts val="10640"/>
              </a:lnSpc>
            </a:pPr>
            <a:r>
              <a:rPr lang="en-US" sz="9500">
                <a:solidFill>
                  <a:srgbClr val="E7FF2F"/>
                </a:solidFill>
                <a:latin typeface="Gagalin"/>
                <a:ea typeface="Gagalin"/>
                <a:cs typeface="Gagalin"/>
                <a:sym typeface="Gagalin"/>
              </a:rPr>
              <a:t>Introducere:</a:t>
            </a:r>
          </a:p>
        </p:txBody>
      </p:sp>
      <p:sp>
        <p:nvSpPr>
          <p:cNvPr id="8" name="TextBox 8"/>
          <p:cNvSpPr txBox="1"/>
          <p:nvPr/>
        </p:nvSpPr>
        <p:spPr>
          <a:xfrm>
            <a:off x="1513869" y="4487017"/>
            <a:ext cx="1891913" cy="441307"/>
          </a:xfrm>
          <a:prstGeom prst="rect">
            <a:avLst/>
          </a:prstGeom>
        </p:spPr>
        <p:txBody>
          <a:bodyPr lIns="0" tIns="0" rIns="0" bIns="0" rtlCol="0" anchor="t">
            <a:spAutoFit/>
          </a:bodyPr>
          <a:lstStyle/>
          <a:p>
            <a:pPr algn="l">
              <a:lnSpc>
                <a:spcPts val="3498"/>
              </a:lnSpc>
            </a:pPr>
            <a:r>
              <a:rPr lang="en-US" sz="3123" b="1">
                <a:solidFill>
                  <a:srgbClr val="000000"/>
                </a:solidFill>
                <a:latin typeface="Neue Montreal Bold"/>
                <a:ea typeface="Neue Montreal Bold"/>
                <a:cs typeface="Neue Montreal Bold"/>
                <a:sym typeface="Neue Montreal Bold"/>
              </a:rPr>
              <a:t>Informații</a:t>
            </a:r>
            <a:r>
              <a:rPr lang="en-US" sz="3123" b="1">
                <a:solidFill>
                  <a:srgbClr val="000000"/>
                </a:solidFill>
                <a:latin typeface="Neue Montreal Medium"/>
                <a:ea typeface="Neue Montreal Medium"/>
                <a:cs typeface="Neue Montreal Medium"/>
                <a:sym typeface="Neue Montreal Medium"/>
              </a:rPr>
              <a:t>:</a:t>
            </a:r>
          </a:p>
        </p:txBody>
      </p:sp>
      <p:grpSp>
        <p:nvGrpSpPr>
          <p:cNvPr id="9" name="Group 9"/>
          <p:cNvGrpSpPr/>
          <p:nvPr/>
        </p:nvGrpSpPr>
        <p:grpSpPr>
          <a:xfrm>
            <a:off x="774855" y="5173153"/>
            <a:ext cx="9243938" cy="4345238"/>
            <a:chOff x="0" y="0"/>
            <a:chExt cx="2499714" cy="1175024"/>
          </a:xfrm>
        </p:grpSpPr>
        <p:sp>
          <p:nvSpPr>
            <p:cNvPr id="10" name="Freeform 10"/>
            <p:cNvSpPr/>
            <p:nvPr/>
          </p:nvSpPr>
          <p:spPr>
            <a:xfrm>
              <a:off x="0" y="0"/>
              <a:ext cx="2499714" cy="1175024"/>
            </a:xfrm>
            <a:custGeom>
              <a:avLst/>
              <a:gdLst/>
              <a:ahLst/>
              <a:cxnLst/>
              <a:rect l="l" t="t" r="r" b="b"/>
              <a:pathLst>
                <a:path w="2499714" h="1175024">
                  <a:moveTo>
                    <a:pt x="42713" y="0"/>
                  </a:moveTo>
                  <a:lnTo>
                    <a:pt x="2457001" y="0"/>
                  </a:lnTo>
                  <a:cubicBezTo>
                    <a:pt x="2468329" y="0"/>
                    <a:pt x="2479193" y="4500"/>
                    <a:pt x="2487203" y="12510"/>
                  </a:cubicBezTo>
                  <a:cubicBezTo>
                    <a:pt x="2495214" y="20521"/>
                    <a:pt x="2499714" y="31385"/>
                    <a:pt x="2499714" y="42713"/>
                  </a:cubicBezTo>
                  <a:lnTo>
                    <a:pt x="2499714" y="1132311"/>
                  </a:lnTo>
                  <a:cubicBezTo>
                    <a:pt x="2499714" y="1143639"/>
                    <a:pt x="2495214" y="1154504"/>
                    <a:pt x="2487203" y="1162514"/>
                  </a:cubicBezTo>
                  <a:cubicBezTo>
                    <a:pt x="2479193" y="1170524"/>
                    <a:pt x="2468329" y="1175024"/>
                    <a:pt x="2457001" y="1175024"/>
                  </a:cubicBezTo>
                  <a:lnTo>
                    <a:pt x="42713" y="1175024"/>
                  </a:lnTo>
                  <a:cubicBezTo>
                    <a:pt x="31385" y="1175024"/>
                    <a:pt x="20521" y="1170524"/>
                    <a:pt x="12510" y="1162514"/>
                  </a:cubicBezTo>
                  <a:cubicBezTo>
                    <a:pt x="4500" y="1154504"/>
                    <a:pt x="0" y="1143639"/>
                    <a:pt x="0" y="1132311"/>
                  </a:cubicBezTo>
                  <a:lnTo>
                    <a:pt x="0" y="42713"/>
                  </a:lnTo>
                  <a:cubicBezTo>
                    <a:pt x="0" y="31385"/>
                    <a:pt x="4500" y="20521"/>
                    <a:pt x="12510" y="12510"/>
                  </a:cubicBezTo>
                  <a:cubicBezTo>
                    <a:pt x="20521" y="4500"/>
                    <a:pt x="31385" y="0"/>
                    <a:pt x="42713" y="0"/>
                  </a:cubicBezTo>
                  <a:close/>
                </a:path>
              </a:pathLst>
            </a:custGeom>
            <a:solidFill>
              <a:srgbClr val="FFFFFF"/>
            </a:solidFill>
          </p:spPr>
          <p:txBody>
            <a:bodyPr/>
            <a:lstStyle/>
            <a:p>
              <a:endParaRPr lang="ro-MD"/>
            </a:p>
          </p:txBody>
        </p:sp>
        <p:sp>
          <p:nvSpPr>
            <p:cNvPr id="11" name="TextBox 11"/>
            <p:cNvSpPr txBox="1"/>
            <p:nvPr/>
          </p:nvSpPr>
          <p:spPr>
            <a:xfrm>
              <a:off x="0" y="19050"/>
              <a:ext cx="2499714" cy="1155974"/>
            </a:xfrm>
            <a:prstGeom prst="rect">
              <a:avLst/>
            </a:prstGeom>
          </p:spPr>
          <p:txBody>
            <a:bodyPr lIns="50800" tIns="50800" rIns="50800" bIns="50800" rtlCol="0" anchor="ctr"/>
            <a:lstStyle/>
            <a:p>
              <a:pPr algn="ctr">
                <a:lnSpc>
                  <a:spcPts val="2598"/>
                </a:lnSpc>
              </a:pPr>
              <a:endParaRPr/>
            </a:p>
          </p:txBody>
        </p:sp>
      </p:grpSp>
      <p:sp>
        <p:nvSpPr>
          <p:cNvPr id="12" name="TextBox 12"/>
          <p:cNvSpPr txBox="1"/>
          <p:nvPr/>
        </p:nvSpPr>
        <p:spPr>
          <a:xfrm>
            <a:off x="1028700" y="5395143"/>
            <a:ext cx="8354437" cy="4123247"/>
          </a:xfrm>
          <a:prstGeom prst="rect">
            <a:avLst/>
          </a:prstGeom>
        </p:spPr>
        <p:txBody>
          <a:bodyPr lIns="0" tIns="0" rIns="0" bIns="0" rtlCol="0" anchor="t">
            <a:spAutoFit/>
          </a:bodyPr>
          <a:lstStyle/>
          <a:p>
            <a:pPr algn="l">
              <a:lnSpc>
                <a:spcPts val="2524"/>
              </a:lnSpc>
            </a:pPr>
            <a:r>
              <a:rPr lang="en-US" sz="1803">
                <a:solidFill>
                  <a:srgbClr val="000000"/>
                </a:solidFill>
                <a:latin typeface="Neue Montreal"/>
                <a:ea typeface="Neue Montreal"/>
                <a:cs typeface="Neue Montreal"/>
                <a:sym typeface="Neue Montreal"/>
              </a:rPr>
              <a:t>Acest proiect are ca scop dezvoltarea unei aplicații informatice care să permită gestionarea eficientă a informațiilor despre jucării și producătorii acestora. Datele sunt organizate în două fișiere text, Toys.txt și Manufacturer.txt, iar programul creat permite interacțiunea utilizatorului prin intermediul unui meniu intuitiv, realizând acțiuni precum afișarea, adăugarea, ștergerea și editarea informațiilor. De asemenea, sunt prevăzute funcționalități avansate, precum generarea de rapoarte, sortări și calcule statistice.</a:t>
            </a:r>
          </a:p>
          <a:p>
            <a:pPr algn="l">
              <a:lnSpc>
                <a:spcPts val="2524"/>
              </a:lnSpc>
            </a:pPr>
            <a:endParaRPr lang="en-US" sz="1803">
              <a:solidFill>
                <a:srgbClr val="000000"/>
              </a:solidFill>
              <a:latin typeface="Neue Montreal"/>
              <a:ea typeface="Neue Montreal"/>
              <a:cs typeface="Neue Montreal"/>
              <a:sym typeface="Neue Montreal"/>
            </a:endParaRPr>
          </a:p>
          <a:p>
            <a:pPr algn="l">
              <a:lnSpc>
                <a:spcPts val="2524"/>
              </a:lnSpc>
            </a:pPr>
            <a:r>
              <a:rPr lang="en-US" sz="1803">
                <a:solidFill>
                  <a:srgbClr val="000000"/>
                </a:solidFill>
                <a:latin typeface="Neue Montreal"/>
                <a:ea typeface="Neue Montreal"/>
                <a:cs typeface="Neue Montreal"/>
                <a:sym typeface="Neue Montreal"/>
              </a:rPr>
              <a:t>Proiectul este completat de o componentă practică în MS Excel, unde datele sunt importate, formatate și analizate vizual prin grafice și funcții avansate, precum și de realizarea unui raport în MS Word și o prezentare în MS PowerPoint. Împreună, aceste elemente contribuie la dezvoltarea abilităților de prelucrare și analiză a datelor, utilizând instrumente informatice moderne.</a:t>
            </a:r>
          </a:p>
          <a:p>
            <a:pPr algn="l">
              <a:lnSpc>
                <a:spcPts val="2524"/>
              </a:lnSpc>
            </a:pPr>
            <a:endParaRPr lang="en-US" sz="1803">
              <a:solidFill>
                <a:srgbClr val="000000"/>
              </a:solidFill>
              <a:latin typeface="Neue Montreal"/>
              <a:ea typeface="Neue Montreal"/>
              <a:cs typeface="Neue Montreal"/>
              <a:sym typeface="Neue Montreal"/>
            </a:endParaRPr>
          </a:p>
        </p:txBody>
      </p:sp>
    </p:spTree>
  </p:cSld>
  <p:clrMapOvr>
    <a:masterClrMapping/>
  </p:clrMapOvr>
  <p:transition>
    <p:wip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21723"/>
        </a:solidFill>
        <a:effectLst/>
      </p:bgPr>
    </p:bg>
    <p:spTree>
      <p:nvGrpSpPr>
        <p:cNvPr id="1" name=""/>
        <p:cNvGrpSpPr/>
        <p:nvPr/>
      </p:nvGrpSpPr>
      <p:grpSpPr>
        <a:xfrm>
          <a:off x="0" y="0"/>
          <a:ext cx="0" cy="0"/>
          <a:chOff x="0" y="0"/>
          <a:chExt cx="0" cy="0"/>
        </a:xfrm>
      </p:grpSpPr>
      <p:sp>
        <p:nvSpPr>
          <p:cNvPr id="2" name="Freeform 2"/>
          <p:cNvSpPr/>
          <p:nvPr/>
        </p:nvSpPr>
        <p:spPr>
          <a:xfrm>
            <a:off x="1063990" y="1028700"/>
            <a:ext cx="1276643" cy="968653"/>
          </a:xfrm>
          <a:custGeom>
            <a:avLst/>
            <a:gdLst/>
            <a:ahLst/>
            <a:cxnLst/>
            <a:rect l="l" t="t" r="r" b="b"/>
            <a:pathLst>
              <a:path w="1276643" h="968653">
                <a:moveTo>
                  <a:pt x="0" y="0"/>
                </a:moveTo>
                <a:lnTo>
                  <a:pt x="1276643" y="0"/>
                </a:lnTo>
                <a:lnTo>
                  <a:pt x="1276643" y="968653"/>
                </a:lnTo>
                <a:lnTo>
                  <a:pt x="0" y="96865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ro-MD"/>
          </a:p>
        </p:txBody>
      </p:sp>
      <p:sp>
        <p:nvSpPr>
          <p:cNvPr id="3" name="Freeform 3"/>
          <p:cNvSpPr/>
          <p:nvPr/>
        </p:nvSpPr>
        <p:spPr>
          <a:xfrm flipH="1">
            <a:off x="8726104" y="-2838585"/>
            <a:ext cx="7517757" cy="4886542"/>
          </a:xfrm>
          <a:custGeom>
            <a:avLst/>
            <a:gdLst/>
            <a:ahLst/>
            <a:cxnLst/>
            <a:rect l="l" t="t" r="r" b="b"/>
            <a:pathLst>
              <a:path w="7517757" h="4886542">
                <a:moveTo>
                  <a:pt x="7517757" y="0"/>
                </a:moveTo>
                <a:lnTo>
                  <a:pt x="0" y="0"/>
                </a:lnTo>
                <a:lnTo>
                  <a:pt x="0" y="4886542"/>
                </a:lnTo>
                <a:lnTo>
                  <a:pt x="7517757" y="4886542"/>
                </a:lnTo>
                <a:lnTo>
                  <a:pt x="7517757"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ro-MD"/>
          </a:p>
        </p:txBody>
      </p:sp>
      <p:sp>
        <p:nvSpPr>
          <p:cNvPr id="4" name="Freeform 4"/>
          <p:cNvSpPr/>
          <p:nvPr/>
        </p:nvSpPr>
        <p:spPr>
          <a:xfrm rot="-5400000" flipH="1">
            <a:off x="15597169" y="2402483"/>
            <a:ext cx="7517757" cy="4886542"/>
          </a:xfrm>
          <a:custGeom>
            <a:avLst/>
            <a:gdLst/>
            <a:ahLst/>
            <a:cxnLst/>
            <a:rect l="l" t="t" r="r" b="b"/>
            <a:pathLst>
              <a:path w="7517757" h="4886542">
                <a:moveTo>
                  <a:pt x="7517757" y="0"/>
                </a:moveTo>
                <a:lnTo>
                  <a:pt x="0" y="0"/>
                </a:lnTo>
                <a:lnTo>
                  <a:pt x="0" y="4886542"/>
                </a:lnTo>
                <a:lnTo>
                  <a:pt x="7517757" y="4886542"/>
                </a:lnTo>
                <a:lnTo>
                  <a:pt x="7517757"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ro-MD"/>
          </a:p>
        </p:txBody>
      </p:sp>
      <p:grpSp>
        <p:nvGrpSpPr>
          <p:cNvPr id="5" name="Group 5"/>
          <p:cNvGrpSpPr/>
          <p:nvPr/>
        </p:nvGrpSpPr>
        <p:grpSpPr>
          <a:xfrm>
            <a:off x="13019365" y="-1437290"/>
            <a:ext cx="5900633" cy="5900633"/>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6"/>
              <a:stretch>
                <a:fillRect l="-32135" r="-20672" b="-1872"/>
              </a:stretch>
            </a:blipFill>
            <a:ln w="200025" cap="sq">
              <a:solidFill>
                <a:srgbClr val="FFFFFF"/>
              </a:solidFill>
              <a:prstDash val="solid"/>
              <a:miter/>
            </a:ln>
          </p:spPr>
          <p:txBody>
            <a:bodyPr/>
            <a:lstStyle/>
            <a:p>
              <a:endParaRPr lang="ro-MD"/>
            </a:p>
          </p:txBody>
        </p:sp>
      </p:grpSp>
      <p:sp>
        <p:nvSpPr>
          <p:cNvPr id="7" name="Freeform 7"/>
          <p:cNvSpPr/>
          <p:nvPr/>
        </p:nvSpPr>
        <p:spPr>
          <a:xfrm>
            <a:off x="8152509" y="1028700"/>
            <a:ext cx="7958898" cy="8910990"/>
          </a:xfrm>
          <a:custGeom>
            <a:avLst/>
            <a:gdLst/>
            <a:ahLst/>
            <a:cxnLst/>
            <a:rect l="l" t="t" r="r" b="b"/>
            <a:pathLst>
              <a:path w="7958898" h="8910990">
                <a:moveTo>
                  <a:pt x="0" y="0"/>
                </a:moveTo>
                <a:lnTo>
                  <a:pt x="7958898" y="0"/>
                </a:lnTo>
                <a:lnTo>
                  <a:pt x="7958898" y="8910990"/>
                </a:lnTo>
                <a:lnTo>
                  <a:pt x="0" y="8910990"/>
                </a:lnTo>
                <a:lnTo>
                  <a:pt x="0" y="0"/>
                </a:lnTo>
                <a:close/>
              </a:path>
            </a:pathLst>
          </a:custGeom>
          <a:blipFill>
            <a:blip r:embed="rId7"/>
            <a:stretch>
              <a:fillRect/>
            </a:stretch>
          </a:blipFill>
        </p:spPr>
        <p:txBody>
          <a:bodyPr/>
          <a:lstStyle/>
          <a:p>
            <a:endParaRPr lang="ro-MD"/>
          </a:p>
        </p:txBody>
      </p:sp>
      <p:sp>
        <p:nvSpPr>
          <p:cNvPr id="8" name="TextBox 8"/>
          <p:cNvSpPr txBox="1"/>
          <p:nvPr/>
        </p:nvSpPr>
        <p:spPr>
          <a:xfrm>
            <a:off x="526519" y="2614981"/>
            <a:ext cx="7181301" cy="5401945"/>
          </a:xfrm>
          <a:prstGeom prst="rect">
            <a:avLst/>
          </a:prstGeom>
        </p:spPr>
        <p:txBody>
          <a:bodyPr lIns="0" tIns="0" rIns="0" bIns="0" rtlCol="0" anchor="t">
            <a:spAutoFit/>
          </a:bodyPr>
          <a:lstStyle/>
          <a:p>
            <a:pPr algn="l">
              <a:lnSpc>
                <a:spcPts val="10640"/>
              </a:lnSpc>
            </a:pPr>
            <a:r>
              <a:rPr lang="en-US" sz="9500">
                <a:solidFill>
                  <a:srgbClr val="E7FF2F"/>
                </a:solidFill>
                <a:latin typeface="Gagalin"/>
                <a:ea typeface="Gagalin"/>
                <a:cs typeface="Gagalin"/>
                <a:sym typeface="Gagalin"/>
              </a:rPr>
              <a:t>Schema</a:t>
            </a:r>
          </a:p>
          <a:p>
            <a:pPr algn="l">
              <a:lnSpc>
                <a:spcPts val="10640"/>
              </a:lnSpc>
            </a:pPr>
            <a:r>
              <a:rPr lang="en-US" sz="9500">
                <a:solidFill>
                  <a:srgbClr val="E7FF2F"/>
                </a:solidFill>
                <a:latin typeface="Gagalin"/>
                <a:ea typeface="Gagalin"/>
                <a:cs typeface="Gagalin"/>
                <a:sym typeface="Gagalin"/>
              </a:rPr>
              <a:t>funcționării</a:t>
            </a:r>
          </a:p>
          <a:p>
            <a:pPr algn="l">
              <a:lnSpc>
                <a:spcPts val="10640"/>
              </a:lnSpc>
            </a:pPr>
            <a:r>
              <a:rPr lang="en-US" sz="9500">
                <a:solidFill>
                  <a:srgbClr val="E7FF2F"/>
                </a:solidFill>
                <a:latin typeface="Gagalin"/>
                <a:ea typeface="Gagalin"/>
                <a:cs typeface="Gagalin"/>
                <a:sym typeface="Gagalin"/>
              </a:rPr>
              <a:t>programului</a:t>
            </a:r>
          </a:p>
          <a:p>
            <a:pPr algn="l">
              <a:lnSpc>
                <a:spcPts val="10640"/>
              </a:lnSpc>
            </a:pPr>
            <a:r>
              <a:rPr lang="en-US" sz="9500">
                <a:solidFill>
                  <a:srgbClr val="E7FF2F"/>
                </a:solidFill>
                <a:latin typeface="Gagalin"/>
                <a:ea typeface="Gagalin"/>
                <a:cs typeface="Gagalin"/>
                <a:sym typeface="Gagalin"/>
              </a:rPr>
              <a:t>C++</a:t>
            </a:r>
          </a:p>
        </p:txBody>
      </p:sp>
    </p:spTree>
  </p:cSld>
  <p:clrMapOvr>
    <a:masterClrMapping/>
  </p:clrMapOvr>
  <p:transition>
    <p:wip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21723"/>
        </a:solidFill>
        <a:effectLst/>
      </p:bgPr>
    </p:bg>
    <p:spTree>
      <p:nvGrpSpPr>
        <p:cNvPr id="1" name=""/>
        <p:cNvGrpSpPr/>
        <p:nvPr/>
      </p:nvGrpSpPr>
      <p:grpSpPr>
        <a:xfrm>
          <a:off x="0" y="0"/>
          <a:ext cx="0" cy="0"/>
          <a:chOff x="0" y="0"/>
          <a:chExt cx="0" cy="0"/>
        </a:xfrm>
      </p:grpSpPr>
      <p:sp>
        <p:nvSpPr>
          <p:cNvPr id="2" name="Freeform 2"/>
          <p:cNvSpPr/>
          <p:nvPr/>
        </p:nvSpPr>
        <p:spPr>
          <a:xfrm>
            <a:off x="1063990" y="1028700"/>
            <a:ext cx="1276643" cy="968653"/>
          </a:xfrm>
          <a:custGeom>
            <a:avLst/>
            <a:gdLst/>
            <a:ahLst/>
            <a:cxnLst/>
            <a:rect l="l" t="t" r="r" b="b"/>
            <a:pathLst>
              <a:path w="1276643" h="968653">
                <a:moveTo>
                  <a:pt x="0" y="0"/>
                </a:moveTo>
                <a:lnTo>
                  <a:pt x="1276643" y="0"/>
                </a:lnTo>
                <a:lnTo>
                  <a:pt x="1276643" y="968653"/>
                </a:lnTo>
                <a:lnTo>
                  <a:pt x="0" y="96865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ro-MD"/>
          </a:p>
        </p:txBody>
      </p:sp>
      <p:sp>
        <p:nvSpPr>
          <p:cNvPr id="3" name="Freeform 3"/>
          <p:cNvSpPr/>
          <p:nvPr/>
        </p:nvSpPr>
        <p:spPr>
          <a:xfrm flipH="1">
            <a:off x="8726104" y="-2838585"/>
            <a:ext cx="7517757" cy="4886542"/>
          </a:xfrm>
          <a:custGeom>
            <a:avLst/>
            <a:gdLst/>
            <a:ahLst/>
            <a:cxnLst/>
            <a:rect l="l" t="t" r="r" b="b"/>
            <a:pathLst>
              <a:path w="7517757" h="4886542">
                <a:moveTo>
                  <a:pt x="7517757" y="0"/>
                </a:moveTo>
                <a:lnTo>
                  <a:pt x="0" y="0"/>
                </a:lnTo>
                <a:lnTo>
                  <a:pt x="0" y="4886542"/>
                </a:lnTo>
                <a:lnTo>
                  <a:pt x="7517757" y="4886542"/>
                </a:lnTo>
                <a:lnTo>
                  <a:pt x="7517757"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ro-MD"/>
          </a:p>
        </p:txBody>
      </p:sp>
      <p:sp>
        <p:nvSpPr>
          <p:cNvPr id="4" name="Freeform 4"/>
          <p:cNvSpPr/>
          <p:nvPr/>
        </p:nvSpPr>
        <p:spPr>
          <a:xfrm rot="-5400000" flipH="1">
            <a:off x="15597169" y="2402483"/>
            <a:ext cx="7517757" cy="4886542"/>
          </a:xfrm>
          <a:custGeom>
            <a:avLst/>
            <a:gdLst/>
            <a:ahLst/>
            <a:cxnLst/>
            <a:rect l="l" t="t" r="r" b="b"/>
            <a:pathLst>
              <a:path w="7517757" h="4886542">
                <a:moveTo>
                  <a:pt x="7517757" y="0"/>
                </a:moveTo>
                <a:lnTo>
                  <a:pt x="0" y="0"/>
                </a:lnTo>
                <a:lnTo>
                  <a:pt x="0" y="4886542"/>
                </a:lnTo>
                <a:lnTo>
                  <a:pt x="7517757" y="4886542"/>
                </a:lnTo>
                <a:lnTo>
                  <a:pt x="7517757"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ro-MD"/>
          </a:p>
        </p:txBody>
      </p:sp>
      <p:grpSp>
        <p:nvGrpSpPr>
          <p:cNvPr id="5" name="Group 5"/>
          <p:cNvGrpSpPr/>
          <p:nvPr/>
        </p:nvGrpSpPr>
        <p:grpSpPr>
          <a:xfrm>
            <a:off x="13019365" y="-1437290"/>
            <a:ext cx="5900633" cy="5900633"/>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6"/>
              <a:stretch>
                <a:fillRect l="-32135" r="-20672" b="-1872"/>
              </a:stretch>
            </a:blipFill>
            <a:ln w="200025" cap="sq">
              <a:solidFill>
                <a:srgbClr val="FFFFFF"/>
              </a:solidFill>
              <a:prstDash val="solid"/>
              <a:miter/>
            </a:ln>
          </p:spPr>
          <p:txBody>
            <a:bodyPr/>
            <a:lstStyle/>
            <a:p>
              <a:endParaRPr lang="ro-MD"/>
            </a:p>
          </p:txBody>
        </p:sp>
      </p:grpSp>
      <p:sp>
        <p:nvSpPr>
          <p:cNvPr id="7" name="TextBox 7"/>
          <p:cNvSpPr txBox="1"/>
          <p:nvPr/>
        </p:nvSpPr>
        <p:spPr>
          <a:xfrm>
            <a:off x="574717" y="2310541"/>
            <a:ext cx="7181301" cy="3921705"/>
          </a:xfrm>
          <a:prstGeom prst="rect">
            <a:avLst/>
          </a:prstGeom>
        </p:spPr>
        <p:txBody>
          <a:bodyPr lIns="0" tIns="0" rIns="0" bIns="0" rtlCol="0" anchor="t">
            <a:spAutoFit/>
          </a:bodyPr>
          <a:lstStyle/>
          <a:p>
            <a:pPr algn="l">
              <a:lnSpc>
                <a:spcPts val="10213"/>
              </a:lnSpc>
            </a:pPr>
            <a:r>
              <a:rPr lang="en-US" sz="9119">
                <a:solidFill>
                  <a:srgbClr val="E7FF2F"/>
                </a:solidFill>
                <a:latin typeface="Gagalin"/>
                <a:ea typeface="Gagalin"/>
                <a:cs typeface="Gagalin"/>
                <a:sym typeface="Gagalin"/>
              </a:rPr>
              <a:t>Funcționarea</a:t>
            </a:r>
          </a:p>
          <a:p>
            <a:pPr algn="l">
              <a:lnSpc>
                <a:spcPts val="10213"/>
              </a:lnSpc>
            </a:pPr>
            <a:r>
              <a:rPr lang="en-US" sz="9119">
                <a:solidFill>
                  <a:srgbClr val="E7FF2F"/>
                </a:solidFill>
                <a:latin typeface="Gagalin"/>
                <a:ea typeface="Gagalin"/>
                <a:cs typeface="Gagalin"/>
                <a:sym typeface="Gagalin"/>
              </a:rPr>
              <a:t>programului</a:t>
            </a:r>
          </a:p>
          <a:p>
            <a:pPr algn="l">
              <a:lnSpc>
                <a:spcPts val="10213"/>
              </a:lnSpc>
            </a:pPr>
            <a:r>
              <a:rPr lang="en-US" sz="9119">
                <a:solidFill>
                  <a:srgbClr val="E7FF2F"/>
                </a:solidFill>
                <a:latin typeface="Gagalin"/>
                <a:ea typeface="Gagalin"/>
                <a:cs typeface="Gagalin"/>
                <a:sym typeface="Gagalin"/>
              </a:rPr>
              <a:t>C++:</a:t>
            </a:r>
          </a:p>
        </p:txBody>
      </p:sp>
      <p:sp>
        <p:nvSpPr>
          <p:cNvPr id="8" name="TextBox 8"/>
          <p:cNvSpPr txBox="1"/>
          <p:nvPr/>
        </p:nvSpPr>
        <p:spPr>
          <a:xfrm>
            <a:off x="7284272" y="4448440"/>
            <a:ext cx="3389143" cy="449142"/>
          </a:xfrm>
          <a:prstGeom prst="rect">
            <a:avLst/>
          </a:prstGeom>
        </p:spPr>
        <p:txBody>
          <a:bodyPr lIns="0" tIns="0" rIns="0" bIns="0" rtlCol="0" anchor="t">
            <a:spAutoFit/>
          </a:bodyPr>
          <a:lstStyle/>
          <a:p>
            <a:pPr algn="l">
              <a:lnSpc>
                <a:spcPts val="3498"/>
              </a:lnSpc>
            </a:pPr>
            <a:r>
              <a:rPr lang="en-US" sz="3123" b="1" dirty="0">
                <a:solidFill>
                  <a:srgbClr val="E7FF2F"/>
                </a:solidFill>
                <a:latin typeface="Neue Montreal Medium"/>
                <a:ea typeface="Neue Montreal Medium"/>
                <a:cs typeface="Neue Montreal Medium"/>
                <a:sym typeface="Neue Montreal Medium"/>
              </a:rPr>
              <a:t>Cum </a:t>
            </a:r>
            <a:r>
              <a:rPr lang="en-US" sz="3123" b="1" dirty="0" err="1">
                <a:solidFill>
                  <a:srgbClr val="E7FF2F"/>
                </a:solidFill>
                <a:latin typeface="Neue Montreal Medium"/>
                <a:ea typeface="Neue Montreal Medium"/>
                <a:cs typeface="Neue Montreal Medium"/>
                <a:sym typeface="Neue Montreal Medium"/>
              </a:rPr>
              <a:t>funcționează</a:t>
            </a:r>
            <a:r>
              <a:rPr lang="en-US" sz="3123" b="1" dirty="0">
                <a:solidFill>
                  <a:srgbClr val="E7FF2F"/>
                </a:solidFill>
                <a:latin typeface="Neue Montreal Medium"/>
                <a:ea typeface="Neue Montreal Medium"/>
                <a:cs typeface="Neue Montreal Medium"/>
                <a:sym typeface="Neue Montreal Medium"/>
              </a:rPr>
              <a:t>?</a:t>
            </a:r>
          </a:p>
        </p:txBody>
      </p:sp>
      <p:sp>
        <p:nvSpPr>
          <p:cNvPr id="9" name="TextBox 9"/>
          <p:cNvSpPr txBox="1"/>
          <p:nvPr/>
        </p:nvSpPr>
        <p:spPr>
          <a:xfrm>
            <a:off x="7284272" y="5365750"/>
            <a:ext cx="7510976" cy="4921250"/>
          </a:xfrm>
          <a:prstGeom prst="rect">
            <a:avLst/>
          </a:prstGeom>
        </p:spPr>
        <p:txBody>
          <a:bodyPr lIns="0" tIns="0" rIns="0" bIns="0" rtlCol="0" anchor="t">
            <a:spAutoFit/>
          </a:bodyPr>
          <a:lstStyle/>
          <a:p>
            <a:pPr algn="l">
              <a:lnSpc>
                <a:spcPts val="2799"/>
              </a:lnSpc>
            </a:pPr>
            <a:r>
              <a:rPr lang="en-US" sz="1999">
                <a:solidFill>
                  <a:srgbClr val="FFFFFF"/>
                </a:solidFill>
                <a:latin typeface="Neue Montreal"/>
                <a:ea typeface="Neue Montreal"/>
                <a:cs typeface="Neue Montreal"/>
                <a:sym typeface="Neue Montreal"/>
              </a:rPr>
              <a:t>Acest program gestionează o bază de date simplă cu informații despre jucării și producători, folosind fișiere text. Utilizatorul interacționează cu un meniu prin care poate:</a:t>
            </a:r>
          </a:p>
          <a:p>
            <a:pPr marL="431799" lvl="1" indent="-215899" algn="l">
              <a:lnSpc>
                <a:spcPts val="2799"/>
              </a:lnSpc>
              <a:buAutoNum type="arabicPeriod"/>
            </a:pPr>
            <a:r>
              <a:rPr lang="en-US" sz="1999">
                <a:solidFill>
                  <a:srgbClr val="FFFFFF"/>
                </a:solidFill>
                <a:latin typeface="Neue Montreal"/>
                <a:ea typeface="Neue Montreal"/>
                <a:cs typeface="Neue Montreal"/>
                <a:sym typeface="Neue Montreal"/>
              </a:rPr>
              <a:t>Vizualiza lista completă a jucăriilor sau a producătorilor.</a:t>
            </a:r>
          </a:p>
          <a:p>
            <a:pPr marL="431799" lvl="1" indent="-215899" algn="l">
              <a:lnSpc>
                <a:spcPts val="2799"/>
              </a:lnSpc>
              <a:buAutoNum type="arabicPeriod"/>
            </a:pPr>
            <a:r>
              <a:rPr lang="en-US" sz="1999">
                <a:solidFill>
                  <a:srgbClr val="FFFFFF"/>
                </a:solidFill>
                <a:latin typeface="Neue Montreal"/>
                <a:ea typeface="Neue Montreal"/>
                <a:cs typeface="Neue Montreal"/>
                <a:sym typeface="Neue Montreal"/>
              </a:rPr>
              <a:t>Adăuga o jucărie sau un producător nou.</a:t>
            </a:r>
          </a:p>
          <a:p>
            <a:pPr marL="431799" lvl="1" indent="-215899" algn="l">
              <a:lnSpc>
                <a:spcPts val="2799"/>
              </a:lnSpc>
              <a:buAutoNum type="arabicPeriod"/>
            </a:pPr>
            <a:r>
              <a:rPr lang="en-US" sz="1999">
                <a:solidFill>
                  <a:srgbClr val="FFFFFF"/>
                </a:solidFill>
                <a:latin typeface="Neue Montreal"/>
                <a:ea typeface="Neue Montreal"/>
                <a:cs typeface="Neue Montreal"/>
                <a:sym typeface="Neue Montreal"/>
              </a:rPr>
              <a:t>Șterge sau edita informații existente, identificându-le după nume.</a:t>
            </a:r>
          </a:p>
          <a:p>
            <a:pPr marL="431799" lvl="1" indent="-215899" algn="l">
              <a:lnSpc>
                <a:spcPts val="2799"/>
              </a:lnSpc>
              <a:buAutoNum type="arabicPeriod"/>
            </a:pPr>
            <a:r>
              <a:rPr lang="en-US" sz="1999">
                <a:solidFill>
                  <a:srgbClr val="FFFFFF"/>
                </a:solidFill>
                <a:latin typeface="Neue Montreal"/>
                <a:ea typeface="Neue Montreal"/>
                <a:cs typeface="Neue Montreal"/>
                <a:sym typeface="Neue Montreal"/>
              </a:rPr>
              <a:t>Afla ce producător fabrică cele mai multe tipuri de jucării.</a:t>
            </a:r>
          </a:p>
          <a:p>
            <a:pPr marL="431799" lvl="1" indent="-215899" algn="l">
              <a:lnSpc>
                <a:spcPts val="2799"/>
              </a:lnSpc>
              <a:buAutoNum type="arabicPeriod"/>
            </a:pPr>
            <a:r>
              <a:rPr lang="en-US" sz="1999">
                <a:solidFill>
                  <a:srgbClr val="FFFFFF"/>
                </a:solidFill>
                <a:latin typeface="Neue Montreal"/>
                <a:ea typeface="Neue Montreal"/>
                <a:cs typeface="Neue Montreal"/>
                <a:sym typeface="Neue Montreal"/>
              </a:rPr>
              <a:t>Vizualiza jucăriile pentru copii mici, ordonate alfabetic.</a:t>
            </a:r>
          </a:p>
          <a:p>
            <a:pPr marL="431799" lvl="1" indent="-215899" algn="l">
              <a:lnSpc>
                <a:spcPts val="2799"/>
              </a:lnSpc>
              <a:buAutoNum type="arabicPeriod"/>
            </a:pPr>
            <a:r>
              <a:rPr lang="en-US" sz="1999">
                <a:solidFill>
                  <a:srgbClr val="FFFFFF"/>
                </a:solidFill>
                <a:latin typeface="Neue Montreal"/>
                <a:ea typeface="Neue Montreal"/>
                <a:cs typeface="Neue Montreal"/>
                <a:sym typeface="Neue Montreal"/>
              </a:rPr>
              <a:t>Determina jucăria cu cel mai mare sau cel mai mic preț.</a:t>
            </a:r>
          </a:p>
          <a:p>
            <a:pPr marL="431799" lvl="1" indent="-215899" algn="l">
              <a:lnSpc>
                <a:spcPts val="2799"/>
              </a:lnSpc>
              <a:buAutoNum type="arabicPeriod"/>
            </a:pPr>
            <a:r>
              <a:rPr lang="en-US" sz="1999">
                <a:solidFill>
                  <a:srgbClr val="FFFFFF"/>
                </a:solidFill>
                <a:latin typeface="Neue Montreal"/>
                <a:ea typeface="Neue Montreal"/>
                <a:cs typeface="Neue Montreal"/>
                <a:sym typeface="Neue Montreal"/>
              </a:rPr>
              <a:t>Calcula prețul mediu al jucăriilor dintr-o anumită categorie (fete, băieți sau copii mici).</a:t>
            </a:r>
          </a:p>
          <a:p>
            <a:pPr algn="l">
              <a:lnSpc>
                <a:spcPts val="2799"/>
              </a:lnSpc>
            </a:pPr>
            <a:r>
              <a:rPr lang="en-US" sz="1999">
                <a:solidFill>
                  <a:srgbClr val="FFFFFF"/>
                </a:solidFill>
                <a:latin typeface="Neue Montreal"/>
                <a:ea typeface="Neue Montreal"/>
                <a:cs typeface="Neue Montreal"/>
                <a:sym typeface="Neue Montreal"/>
              </a:rPr>
              <a:t>Toate informațiile sunt salvate și actualizate în fișierele Toys.txt, Manufacturer.txt și Total.txt, fără utilizarea unei baze de date externe.</a:t>
            </a:r>
          </a:p>
          <a:p>
            <a:pPr algn="l">
              <a:lnSpc>
                <a:spcPts val="2799"/>
              </a:lnSpc>
            </a:pPr>
            <a:endParaRPr lang="en-US" sz="1999">
              <a:solidFill>
                <a:srgbClr val="FFFFFF"/>
              </a:solidFill>
              <a:latin typeface="Neue Montreal"/>
              <a:ea typeface="Neue Montreal"/>
              <a:cs typeface="Neue Montreal"/>
              <a:sym typeface="Neue Montreal"/>
            </a:endParaRPr>
          </a:p>
        </p:txBody>
      </p:sp>
    </p:spTree>
  </p:cSld>
  <p:clrMapOvr>
    <a:masterClrMapping/>
  </p:clrMapOvr>
  <p:transition>
    <p:wip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21723"/>
        </a:solidFill>
        <a:effectLst/>
      </p:bgPr>
    </p:bg>
    <p:spTree>
      <p:nvGrpSpPr>
        <p:cNvPr id="1" name=""/>
        <p:cNvGrpSpPr/>
        <p:nvPr/>
      </p:nvGrpSpPr>
      <p:grpSpPr>
        <a:xfrm>
          <a:off x="0" y="0"/>
          <a:ext cx="0" cy="0"/>
          <a:chOff x="0" y="0"/>
          <a:chExt cx="0" cy="0"/>
        </a:xfrm>
      </p:grpSpPr>
      <p:sp>
        <p:nvSpPr>
          <p:cNvPr id="2" name="Freeform 2"/>
          <p:cNvSpPr/>
          <p:nvPr/>
        </p:nvSpPr>
        <p:spPr>
          <a:xfrm flipH="1">
            <a:off x="9370565" y="-1501280"/>
            <a:ext cx="7030467" cy="4587380"/>
          </a:xfrm>
          <a:custGeom>
            <a:avLst/>
            <a:gdLst/>
            <a:ahLst/>
            <a:cxnLst/>
            <a:rect l="l" t="t" r="r" b="b"/>
            <a:pathLst>
              <a:path w="7030467" h="4587380">
                <a:moveTo>
                  <a:pt x="7030467" y="0"/>
                </a:moveTo>
                <a:lnTo>
                  <a:pt x="0" y="0"/>
                </a:lnTo>
                <a:lnTo>
                  <a:pt x="0" y="4587380"/>
                </a:lnTo>
                <a:lnTo>
                  <a:pt x="7030467" y="4587380"/>
                </a:lnTo>
                <a:lnTo>
                  <a:pt x="7030467"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ro-MD"/>
          </a:p>
        </p:txBody>
      </p:sp>
      <p:grpSp>
        <p:nvGrpSpPr>
          <p:cNvPr id="3" name="Group 3"/>
          <p:cNvGrpSpPr/>
          <p:nvPr/>
        </p:nvGrpSpPr>
        <p:grpSpPr>
          <a:xfrm>
            <a:off x="11979609" y="0"/>
            <a:ext cx="6308391" cy="10287000"/>
            <a:chOff x="0" y="0"/>
            <a:chExt cx="8411188" cy="13716000"/>
          </a:xfrm>
        </p:grpSpPr>
        <p:pic>
          <p:nvPicPr>
            <p:cNvPr id="4" name="Picture 4"/>
            <p:cNvPicPr>
              <a:picLocks noChangeAspect="1"/>
            </p:cNvPicPr>
            <p:nvPr/>
          </p:nvPicPr>
          <p:blipFill>
            <a:blip r:embed="rId4"/>
            <a:srcRect l="10114" t="2161"/>
            <a:stretch>
              <a:fillRect/>
            </a:stretch>
          </p:blipFill>
          <p:spPr>
            <a:xfrm>
              <a:off x="0" y="0"/>
              <a:ext cx="8411188" cy="13716000"/>
            </a:xfrm>
            <a:prstGeom prst="rect">
              <a:avLst/>
            </a:prstGeom>
          </p:spPr>
        </p:pic>
      </p:grpSp>
      <p:sp>
        <p:nvSpPr>
          <p:cNvPr id="5" name="Freeform 5"/>
          <p:cNvSpPr/>
          <p:nvPr/>
        </p:nvSpPr>
        <p:spPr>
          <a:xfrm>
            <a:off x="1063990" y="1028700"/>
            <a:ext cx="1276643" cy="968653"/>
          </a:xfrm>
          <a:custGeom>
            <a:avLst/>
            <a:gdLst/>
            <a:ahLst/>
            <a:cxnLst/>
            <a:rect l="l" t="t" r="r" b="b"/>
            <a:pathLst>
              <a:path w="1276643" h="968653">
                <a:moveTo>
                  <a:pt x="0" y="0"/>
                </a:moveTo>
                <a:lnTo>
                  <a:pt x="1276643" y="0"/>
                </a:lnTo>
                <a:lnTo>
                  <a:pt x="1276643" y="968653"/>
                </a:lnTo>
                <a:lnTo>
                  <a:pt x="0" y="968653"/>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ro-MD"/>
          </a:p>
        </p:txBody>
      </p:sp>
      <p:grpSp>
        <p:nvGrpSpPr>
          <p:cNvPr id="6" name="Group 6"/>
          <p:cNvGrpSpPr/>
          <p:nvPr/>
        </p:nvGrpSpPr>
        <p:grpSpPr>
          <a:xfrm>
            <a:off x="10517813" y="5473315"/>
            <a:ext cx="704803" cy="704803"/>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txBody>
            <a:bodyPr/>
            <a:lstStyle/>
            <a:p>
              <a:endParaRPr lang="ro-MD"/>
            </a:p>
          </p:txBody>
        </p:sp>
        <p:sp>
          <p:nvSpPr>
            <p:cNvPr id="8" name="TextBox 8"/>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9" name="Group 9"/>
          <p:cNvGrpSpPr/>
          <p:nvPr/>
        </p:nvGrpSpPr>
        <p:grpSpPr>
          <a:xfrm>
            <a:off x="10517813" y="6620245"/>
            <a:ext cx="704803" cy="704803"/>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txBody>
            <a:bodyPr/>
            <a:lstStyle/>
            <a:p>
              <a:endParaRPr lang="ro-MD"/>
            </a:p>
          </p:txBody>
        </p:sp>
        <p:sp>
          <p:nvSpPr>
            <p:cNvPr id="11" name="TextBox 11"/>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sp>
        <p:nvSpPr>
          <p:cNvPr id="12" name="Freeform 12"/>
          <p:cNvSpPr/>
          <p:nvPr/>
        </p:nvSpPr>
        <p:spPr>
          <a:xfrm>
            <a:off x="10484863" y="5440364"/>
            <a:ext cx="770704" cy="770704"/>
          </a:xfrm>
          <a:custGeom>
            <a:avLst/>
            <a:gdLst/>
            <a:ahLst/>
            <a:cxnLst/>
            <a:rect l="l" t="t" r="r" b="b"/>
            <a:pathLst>
              <a:path w="770704" h="770704">
                <a:moveTo>
                  <a:pt x="0" y="0"/>
                </a:moveTo>
                <a:lnTo>
                  <a:pt x="770703" y="0"/>
                </a:lnTo>
                <a:lnTo>
                  <a:pt x="770703" y="770704"/>
                </a:lnTo>
                <a:lnTo>
                  <a:pt x="0" y="770704"/>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ro-MD"/>
          </a:p>
        </p:txBody>
      </p:sp>
      <p:grpSp>
        <p:nvGrpSpPr>
          <p:cNvPr id="13" name="Group 13"/>
          <p:cNvGrpSpPr/>
          <p:nvPr/>
        </p:nvGrpSpPr>
        <p:grpSpPr>
          <a:xfrm>
            <a:off x="10517813" y="7767176"/>
            <a:ext cx="704803" cy="704803"/>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txBody>
            <a:bodyPr/>
            <a:lstStyle/>
            <a:p>
              <a:endParaRPr lang="ro-MD"/>
            </a:p>
          </p:txBody>
        </p:sp>
        <p:sp>
          <p:nvSpPr>
            <p:cNvPr id="15" name="TextBox 15"/>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sp>
        <p:nvSpPr>
          <p:cNvPr id="16" name="Freeform 16"/>
          <p:cNvSpPr/>
          <p:nvPr/>
        </p:nvSpPr>
        <p:spPr>
          <a:xfrm>
            <a:off x="10484863" y="7745849"/>
            <a:ext cx="770704" cy="770704"/>
          </a:xfrm>
          <a:custGeom>
            <a:avLst/>
            <a:gdLst/>
            <a:ahLst/>
            <a:cxnLst/>
            <a:rect l="l" t="t" r="r" b="b"/>
            <a:pathLst>
              <a:path w="770704" h="770704">
                <a:moveTo>
                  <a:pt x="0" y="0"/>
                </a:moveTo>
                <a:lnTo>
                  <a:pt x="770703" y="0"/>
                </a:lnTo>
                <a:lnTo>
                  <a:pt x="770703" y="770703"/>
                </a:lnTo>
                <a:lnTo>
                  <a:pt x="0" y="770703"/>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ro-MD"/>
          </a:p>
        </p:txBody>
      </p:sp>
      <p:sp>
        <p:nvSpPr>
          <p:cNvPr id="17" name="Freeform 17"/>
          <p:cNvSpPr/>
          <p:nvPr/>
        </p:nvSpPr>
        <p:spPr>
          <a:xfrm>
            <a:off x="10484863" y="6587295"/>
            <a:ext cx="770704" cy="770704"/>
          </a:xfrm>
          <a:custGeom>
            <a:avLst/>
            <a:gdLst/>
            <a:ahLst/>
            <a:cxnLst/>
            <a:rect l="l" t="t" r="r" b="b"/>
            <a:pathLst>
              <a:path w="770704" h="770704">
                <a:moveTo>
                  <a:pt x="0" y="0"/>
                </a:moveTo>
                <a:lnTo>
                  <a:pt x="770703" y="0"/>
                </a:lnTo>
                <a:lnTo>
                  <a:pt x="770703" y="770703"/>
                </a:lnTo>
                <a:lnTo>
                  <a:pt x="0" y="770703"/>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txBody>
          <a:bodyPr/>
          <a:lstStyle/>
          <a:p>
            <a:endParaRPr lang="ro-MD"/>
          </a:p>
        </p:txBody>
      </p:sp>
      <p:grpSp>
        <p:nvGrpSpPr>
          <p:cNvPr id="18" name="Group 18"/>
          <p:cNvGrpSpPr/>
          <p:nvPr/>
        </p:nvGrpSpPr>
        <p:grpSpPr>
          <a:xfrm>
            <a:off x="944797" y="2686152"/>
            <a:ext cx="5417305" cy="1621286"/>
            <a:chOff x="0" y="0"/>
            <a:chExt cx="1464929" cy="438423"/>
          </a:xfrm>
        </p:grpSpPr>
        <p:sp>
          <p:nvSpPr>
            <p:cNvPr id="19" name="Freeform 19"/>
            <p:cNvSpPr/>
            <p:nvPr/>
          </p:nvSpPr>
          <p:spPr>
            <a:xfrm>
              <a:off x="0" y="0"/>
              <a:ext cx="1464929" cy="438423"/>
            </a:xfrm>
            <a:custGeom>
              <a:avLst/>
              <a:gdLst/>
              <a:ahLst/>
              <a:cxnLst/>
              <a:rect l="l" t="t" r="r" b="b"/>
              <a:pathLst>
                <a:path w="1464929" h="438423">
                  <a:moveTo>
                    <a:pt x="72885" y="0"/>
                  </a:moveTo>
                  <a:lnTo>
                    <a:pt x="1392044" y="0"/>
                  </a:lnTo>
                  <a:cubicBezTo>
                    <a:pt x="1411374" y="0"/>
                    <a:pt x="1429913" y="7679"/>
                    <a:pt x="1443581" y="21347"/>
                  </a:cubicBezTo>
                  <a:cubicBezTo>
                    <a:pt x="1457250" y="35016"/>
                    <a:pt x="1464929" y="53554"/>
                    <a:pt x="1464929" y="72885"/>
                  </a:cubicBezTo>
                  <a:lnTo>
                    <a:pt x="1464929" y="365538"/>
                  </a:lnTo>
                  <a:cubicBezTo>
                    <a:pt x="1464929" y="405791"/>
                    <a:pt x="1432297" y="438423"/>
                    <a:pt x="1392044" y="438423"/>
                  </a:cubicBezTo>
                  <a:lnTo>
                    <a:pt x="72885" y="438423"/>
                  </a:lnTo>
                  <a:cubicBezTo>
                    <a:pt x="32632" y="438423"/>
                    <a:pt x="0" y="405791"/>
                    <a:pt x="0" y="365538"/>
                  </a:cubicBezTo>
                  <a:lnTo>
                    <a:pt x="0" y="72885"/>
                  </a:lnTo>
                  <a:cubicBezTo>
                    <a:pt x="0" y="32632"/>
                    <a:pt x="32632" y="0"/>
                    <a:pt x="72885" y="0"/>
                  </a:cubicBezTo>
                  <a:close/>
                </a:path>
              </a:pathLst>
            </a:custGeom>
            <a:solidFill>
              <a:srgbClr val="FFFFFF"/>
            </a:solidFill>
          </p:spPr>
          <p:txBody>
            <a:bodyPr/>
            <a:lstStyle/>
            <a:p>
              <a:endParaRPr lang="ro-MD"/>
            </a:p>
          </p:txBody>
        </p:sp>
        <p:sp>
          <p:nvSpPr>
            <p:cNvPr id="20" name="TextBox 20"/>
            <p:cNvSpPr txBox="1"/>
            <p:nvPr/>
          </p:nvSpPr>
          <p:spPr>
            <a:xfrm>
              <a:off x="0" y="19050"/>
              <a:ext cx="1464929" cy="419373"/>
            </a:xfrm>
            <a:prstGeom prst="rect">
              <a:avLst/>
            </a:prstGeom>
          </p:spPr>
          <p:txBody>
            <a:bodyPr lIns="50800" tIns="50800" rIns="50800" bIns="50800" rtlCol="0" anchor="ctr"/>
            <a:lstStyle/>
            <a:p>
              <a:pPr algn="ctr">
                <a:lnSpc>
                  <a:spcPts val="2598"/>
                </a:lnSpc>
              </a:pPr>
              <a:endParaRPr/>
            </a:p>
          </p:txBody>
        </p:sp>
      </p:grpSp>
      <p:sp>
        <p:nvSpPr>
          <p:cNvPr id="21" name="TextBox 21"/>
          <p:cNvSpPr txBox="1"/>
          <p:nvPr/>
        </p:nvSpPr>
        <p:spPr>
          <a:xfrm>
            <a:off x="1119204" y="2638527"/>
            <a:ext cx="5242898" cy="1492250"/>
          </a:xfrm>
          <a:prstGeom prst="rect">
            <a:avLst/>
          </a:prstGeom>
        </p:spPr>
        <p:txBody>
          <a:bodyPr lIns="0" tIns="0" rIns="0" bIns="0" rtlCol="0" anchor="t">
            <a:spAutoFit/>
          </a:bodyPr>
          <a:lstStyle/>
          <a:p>
            <a:pPr algn="l">
              <a:lnSpc>
                <a:spcPts val="11875"/>
              </a:lnSpc>
            </a:pPr>
            <a:r>
              <a:rPr lang="en-US" sz="9500">
                <a:solidFill>
                  <a:srgbClr val="E7FF2F"/>
                </a:solidFill>
                <a:latin typeface="Gagalin"/>
                <a:ea typeface="Gagalin"/>
                <a:cs typeface="Gagalin"/>
                <a:sym typeface="Gagalin"/>
              </a:rPr>
              <a:t>Concluzii:</a:t>
            </a:r>
          </a:p>
        </p:txBody>
      </p:sp>
      <p:grpSp>
        <p:nvGrpSpPr>
          <p:cNvPr id="22" name="Group 22"/>
          <p:cNvGrpSpPr/>
          <p:nvPr/>
        </p:nvGrpSpPr>
        <p:grpSpPr>
          <a:xfrm>
            <a:off x="774855" y="4178623"/>
            <a:ext cx="9609161" cy="5933255"/>
            <a:chOff x="0" y="0"/>
            <a:chExt cx="2598476" cy="1604450"/>
          </a:xfrm>
        </p:grpSpPr>
        <p:sp>
          <p:nvSpPr>
            <p:cNvPr id="23" name="Freeform 23"/>
            <p:cNvSpPr/>
            <p:nvPr/>
          </p:nvSpPr>
          <p:spPr>
            <a:xfrm>
              <a:off x="0" y="0"/>
              <a:ext cx="2598476" cy="1604450"/>
            </a:xfrm>
            <a:custGeom>
              <a:avLst/>
              <a:gdLst/>
              <a:ahLst/>
              <a:cxnLst/>
              <a:rect l="l" t="t" r="r" b="b"/>
              <a:pathLst>
                <a:path w="2598476" h="1604450">
                  <a:moveTo>
                    <a:pt x="41090" y="0"/>
                  </a:moveTo>
                  <a:lnTo>
                    <a:pt x="2557386" y="0"/>
                  </a:lnTo>
                  <a:cubicBezTo>
                    <a:pt x="2580079" y="0"/>
                    <a:pt x="2598476" y="18397"/>
                    <a:pt x="2598476" y="41090"/>
                  </a:cubicBezTo>
                  <a:lnTo>
                    <a:pt x="2598476" y="1563360"/>
                  </a:lnTo>
                  <a:cubicBezTo>
                    <a:pt x="2598476" y="1574258"/>
                    <a:pt x="2594147" y="1584709"/>
                    <a:pt x="2586441" y="1592415"/>
                  </a:cubicBezTo>
                  <a:cubicBezTo>
                    <a:pt x="2578735" y="1600121"/>
                    <a:pt x="2568284" y="1604450"/>
                    <a:pt x="2557386" y="1604450"/>
                  </a:cubicBezTo>
                  <a:lnTo>
                    <a:pt x="41090" y="1604450"/>
                  </a:lnTo>
                  <a:cubicBezTo>
                    <a:pt x="30192" y="1604450"/>
                    <a:pt x="19741" y="1600121"/>
                    <a:pt x="12035" y="1592415"/>
                  </a:cubicBezTo>
                  <a:cubicBezTo>
                    <a:pt x="4329" y="1584709"/>
                    <a:pt x="0" y="1574258"/>
                    <a:pt x="0" y="1563360"/>
                  </a:cubicBezTo>
                  <a:lnTo>
                    <a:pt x="0" y="41090"/>
                  </a:lnTo>
                  <a:cubicBezTo>
                    <a:pt x="0" y="30192"/>
                    <a:pt x="4329" y="19741"/>
                    <a:pt x="12035" y="12035"/>
                  </a:cubicBezTo>
                  <a:cubicBezTo>
                    <a:pt x="19741" y="4329"/>
                    <a:pt x="30192" y="0"/>
                    <a:pt x="41090" y="0"/>
                  </a:cubicBezTo>
                  <a:close/>
                </a:path>
              </a:pathLst>
            </a:custGeom>
            <a:solidFill>
              <a:srgbClr val="FFFFFF"/>
            </a:solidFill>
          </p:spPr>
          <p:txBody>
            <a:bodyPr/>
            <a:lstStyle/>
            <a:p>
              <a:endParaRPr lang="ro-MD"/>
            </a:p>
          </p:txBody>
        </p:sp>
        <p:sp>
          <p:nvSpPr>
            <p:cNvPr id="24" name="TextBox 24"/>
            <p:cNvSpPr txBox="1"/>
            <p:nvPr/>
          </p:nvSpPr>
          <p:spPr>
            <a:xfrm>
              <a:off x="0" y="19050"/>
              <a:ext cx="2598476" cy="1585400"/>
            </a:xfrm>
            <a:prstGeom prst="rect">
              <a:avLst/>
            </a:prstGeom>
          </p:spPr>
          <p:txBody>
            <a:bodyPr lIns="50800" tIns="50800" rIns="50800" bIns="50800" rtlCol="0" anchor="ctr"/>
            <a:lstStyle/>
            <a:p>
              <a:pPr algn="ctr">
                <a:lnSpc>
                  <a:spcPts val="2598"/>
                </a:lnSpc>
              </a:pPr>
              <a:endParaRPr/>
            </a:p>
          </p:txBody>
        </p:sp>
      </p:grpSp>
      <p:sp>
        <p:nvSpPr>
          <p:cNvPr id="25" name="TextBox 25"/>
          <p:cNvSpPr txBox="1"/>
          <p:nvPr/>
        </p:nvSpPr>
        <p:spPr>
          <a:xfrm>
            <a:off x="1334753" y="4354500"/>
            <a:ext cx="8489365" cy="5902995"/>
          </a:xfrm>
          <a:prstGeom prst="rect">
            <a:avLst/>
          </a:prstGeom>
        </p:spPr>
        <p:txBody>
          <a:bodyPr lIns="0" tIns="0" rIns="0" bIns="0" rtlCol="0" anchor="t">
            <a:spAutoFit/>
          </a:bodyPr>
          <a:lstStyle/>
          <a:p>
            <a:pPr algn="l">
              <a:lnSpc>
                <a:spcPts val="2609"/>
              </a:lnSpc>
            </a:pPr>
            <a:r>
              <a:rPr lang="en-US" sz="1863">
                <a:solidFill>
                  <a:srgbClr val="181718"/>
                </a:solidFill>
                <a:latin typeface="Neue Montreal"/>
                <a:ea typeface="Neue Montreal"/>
                <a:cs typeface="Neue Montreal"/>
                <a:sym typeface="Neue Montreal"/>
              </a:rPr>
              <a:t>În cadrul practicii de desfășurate, am avut oportunitatea de a dezvolta o aplicație modulară în limbajul C++, care gestionează informațiile despre jucării și producători, folosind fișiere text externe pentru stocarea datelor. Programul creat include un meniu interactiv prin care utilizatorul poate efectua acțiuni diverse: afișarea, adăugarea, ștergerea și modificarea datelor, precum și generarea de rapoarte statistice, cum ar fi media prețurilor sau identificarea jucăriei cu cel mai mare sau cel mai mic preț.</a:t>
            </a:r>
          </a:p>
          <a:p>
            <a:pPr algn="l">
              <a:lnSpc>
                <a:spcPts val="2609"/>
              </a:lnSpc>
            </a:pPr>
            <a:endParaRPr lang="en-US" sz="1863">
              <a:solidFill>
                <a:srgbClr val="181718"/>
              </a:solidFill>
              <a:latin typeface="Neue Montreal"/>
              <a:ea typeface="Neue Montreal"/>
              <a:cs typeface="Neue Montreal"/>
              <a:sym typeface="Neue Montreal"/>
            </a:endParaRPr>
          </a:p>
          <a:p>
            <a:pPr algn="l">
              <a:lnSpc>
                <a:spcPts val="2609"/>
              </a:lnSpc>
            </a:pPr>
            <a:r>
              <a:rPr lang="en-US" sz="1863">
                <a:solidFill>
                  <a:srgbClr val="181718"/>
                </a:solidFill>
                <a:latin typeface="Neue Montreal"/>
                <a:ea typeface="Neue Montreal"/>
                <a:cs typeface="Neue Montreal"/>
                <a:sym typeface="Neue Montreal"/>
              </a:rPr>
              <a:t>Pe lângă partea de programare, am aplicat cunoștințele de lucru cu MS Excel pentru a importa, organiza și analiza datele, utilizând formule, grafice, validări și elemente vizuale precum imagini și sigle. În MS Word am redactat un raport complet al proiectului, iar în MS PowerPoint am creat o prezentare sintetică ce reflectă etapele și rezultatele activității.</a:t>
            </a:r>
          </a:p>
          <a:p>
            <a:pPr algn="l">
              <a:lnSpc>
                <a:spcPts val="2609"/>
              </a:lnSpc>
            </a:pPr>
            <a:endParaRPr lang="en-US" sz="1863">
              <a:solidFill>
                <a:srgbClr val="181718"/>
              </a:solidFill>
              <a:latin typeface="Neue Montreal"/>
              <a:ea typeface="Neue Montreal"/>
              <a:cs typeface="Neue Montreal"/>
              <a:sym typeface="Neue Montreal"/>
            </a:endParaRPr>
          </a:p>
          <a:p>
            <a:pPr algn="l">
              <a:lnSpc>
                <a:spcPts val="2609"/>
              </a:lnSpc>
            </a:pPr>
            <a:r>
              <a:rPr lang="en-US" sz="1863">
                <a:solidFill>
                  <a:srgbClr val="181718"/>
                </a:solidFill>
                <a:latin typeface="Neue Montreal"/>
                <a:ea typeface="Neue Montreal"/>
                <a:cs typeface="Neue Montreal"/>
                <a:sym typeface="Neue Montreal"/>
              </a:rPr>
              <a:t>Această experiență practică m-a ajutat să înțeleg mai bine principiile programării structurate, lucrul cu fișiere, importanța modularității și a interfeței intuitive pentru utilizator. De asemenea, am dobândit abilități utile în analiza și vizualizarea datelor, esențiale pentru dezvoltarea profesională în domeniul IT.</a:t>
            </a:r>
          </a:p>
          <a:p>
            <a:pPr algn="l">
              <a:lnSpc>
                <a:spcPts val="2609"/>
              </a:lnSpc>
            </a:pPr>
            <a:endParaRPr lang="en-US" sz="1863">
              <a:solidFill>
                <a:srgbClr val="181718"/>
              </a:solidFill>
              <a:latin typeface="Neue Montreal"/>
              <a:ea typeface="Neue Montreal"/>
              <a:cs typeface="Neue Montreal"/>
              <a:sym typeface="Neue Montreal"/>
            </a:endParaRPr>
          </a:p>
        </p:txBody>
      </p:sp>
    </p:spTree>
  </p:cSld>
  <p:clrMapOvr>
    <a:masterClrMapping/>
  </p:clrMapOvr>
  <p:transition>
    <p:wip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21723"/>
        </a:solidFill>
        <a:effectLst/>
      </p:bgPr>
    </p:bg>
    <p:spTree>
      <p:nvGrpSpPr>
        <p:cNvPr id="1" name=""/>
        <p:cNvGrpSpPr/>
        <p:nvPr/>
      </p:nvGrpSpPr>
      <p:grpSpPr>
        <a:xfrm>
          <a:off x="0" y="0"/>
          <a:ext cx="0" cy="0"/>
          <a:chOff x="0" y="0"/>
          <a:chExt cx="0" cy="0"/>
        </a:xfrm>
      </p:grpSpPr>
      <p:sp>
        <p:nvSpPr>
          <p:cNvPr id="2" name="Freeform 2"/>
          <p:cNvSpPr/>
          <p:nvPr/>
        </p:nvSpPr>
        <p:spPr>
          <a:xfrm flipH="1">
            <a:off x="9370565" y="-1501280"/>
            <a:ext cx="7030467" cy="4587380"/>
          </a:xfrm>
          <a:custGeom>
            <a:avLst/>
            <a:gdLst/>
            <a:ahLst/>
            <a:cxnLst/>
            <a:rect l="l" t="t" r="r" b="b"/>
            <a:pathLst>
              <a:path w="7030467" h="4587380">
                <a:moveTo>
                  <a:pt x="7030467" y="0"/>
                </a:moveTo>
                <a:lnTo>
                  <a:pt x="0" y="0"/>
                </a:lnTo>
                <a:lnTo>
                  <a:pt x="0" y="4587380"/>
                </a:lnTo>
                <a:lnTo>
                  <a:pt x="7030467" y="4587380"/>
                </a:lnTo>
                <a:lnTo>
                  <a:pt x="7030467"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ro-MD"/>
          </a:p>
        </p:txBody>
      </p:sp>
      <p:sp>
        <p:nvSpPr>
          <p:cNvPr id="3" name="Freeform 3"/>
          <p:cNvSpPr/>
          <p:nvPr/>
        </p:nvSpPr>
        <p:spPr>
          <a:xfrm>
            <a:off x="1063990" y="1028700"/>
            <a:ext cx="1276643" cy="968653"/>
          </a:xfrm>
          <a:custGeom>
            <a:avLst/>
            <a:gdLst/>
            <a:ahLst/>
            <a:cxnLst/>
            <a:rect l="l" t="t" r="r" b="b"/>
            <a:pathLst>
              <a:path w="1276643" h="968653">
                <a:moveTo>
                  <a:pt x="0" y="0"/>
                </a:moveTo>
                <a:lnTo>
                  <a:pt x="1276643" y="0"/>
                </a:lnTo>
                <a:lnTo>
                  <a:pt x="1276643" y="968653"/>
                </a:lnTo>
                <a:lnTo>
                  <a:pt x="0" y="96865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ro-MD"/>
          </a:p>
        </p:txBody>
      </p:sp>
      <p:sp>
        <p:nvSpPr>
          <p:cNvPr id="4" name="TextBox 4"/>
          <p:cNvSpPr txBox="1"/>
          <p:nvPr/>
        </p:nvSpPr>
        <p:spPr>
          <a:xfrm>
            <a:off x="1028700" y="3028950"/>
            <a:ext cx="8438796" cy="5273028"/>
          </a:xfrm>
          <a:prstGeom prst="rect">
            <a:avLst/>
          </a:prstGeom>
        </p:spPr>
        <p:txBody>
          <a:bodyPr lIns="0" tIns="0" rIns="0" bIns="0" rtlCol="0" anchor="t">
            <a:spAutoFit/>
          </a:bodyPr>
          <a:lstStyle/>
          <a:p>
            <a:pPr algn="l">
              <a:lnSpc>
                <a:spcPts val="13877"/>
              </a:lnSpc>
            </a:pPr>
            <a:r>
              <a:rPr lang="en-US" sz="11101">
                <a:solidFill>
                  <a:srgbClr val="E7FF2F"/>
                </a:solidFill>
                <a:latin typeface="Gagalin"/>
                <a:ea typeface="Gagalin"/>
                <a:cs typeface="Gagalin"/>
                <a:sym typeface="Gagalin"/>
              </a:rPr>
              <a:t>Mulțumesc</a:t>
            </a:r>
          </a:p>
          <a:p>
            <a:pPr algn="l">
              <a:lnSpc>
                <a:spcPts val="13877"/>
              </a:lnSpc>
            </a:pPr>
            <a:r>
              <a:rPr lang="en-US" sz="11101">
                <a:solidFill>
                  <a:srgbClr val="E7FF2F"/>
                </a:solidFill>
                <a:latin typeface="Gagalin"/>
                <a:ea typeface="Gagalin"/>
                <a:cs typeface="Gagalin"/>
                <a:sym typeface="Gagalin"/>
              </a:rPr>
              <a:t>Pentru</a:t>
            </a:r>
          </a:p>
          <a:p>
            <a:pPr algn="l">
              <a:lnSpc>
                <a:spcPts val="13877"/>
              </a:lnSpc>
            </a:pPr>
            <a:r>
              <a:rPr lang="en-US" sz="11101">
                <a:solidFill>
                  <a:srgbClr val="E7FF2F"/>
                </a:solidFill>
                <a:latin typeface="Gagalin"/>
                <a:ea typeface="Gagalin"/>
                <a:cs typeface="Gagalin"/>
                <a:sym typeface="Gagalin"/>
              </a:rPr>
              <a:t>Atenție!</a:t>
            </a:r>
          </a:p>
        </p:txBody>
      </p:sp>
    </p:spTree>
  </p:cSld>
  <p:clrMapOvr>
    <a:masterClrMapping/>
  </p:clrMapOvr>
  <p:transition>
    <p:wip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1234</Words>
  <Application>Microsoft Office PowerPoint</Application>
  <PresentationFormat>Custom</PresentationFormat>
  <Paragraphs>138</Paragraphs>
  <Slides>10</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10</vt:i4>
      </vt:variant>
    </vt:vector>
  </HeadingPairs>
  <TitlesOfParts>
    <vt:vector size="18" baseType="lpstr">
      <vt:lpstr>Neue Montreal Bold</vt:lpstr>
      <vt:lpstr>Arial</vt:lpstr>
      <vt:lpstr>Neue Montreal</vt:lpstr>
      <vt:lpstr>Calibri</vt:lpstr>
      <vt:lpstr>Archivo Black</vt:lpstr>
      <vt:lpstr>Gagalin</vt:lpstr>
      <vt:lpstr>Neue Montreal Medium</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Creat de:</dc:title>
  <cp:lastModifiedBy>205</cp:lastModifiedBy>
  <cp:revision>2</cp:revision>
  <dcterms:created xsi:type="dcterms:W3CDTF">2006-08-16T00:00:00Z</dcterms:created>
  <dcterms:modified xsi:type="dcterms:W3CDTF">2025-05-27T08:49:34Z</dcterms:modified>
  <dc:identifier>DAGoEcGjOnY</dc:identifier>
</cp:coreProperties>
</file>